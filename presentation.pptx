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87c6166e524336" /><Relationship Type="http://schemas.openxmlformats.org/officeDocument/2006/relationships/extended-properties" Target="/docProps/app.xml" Id="R196b3cda62b44d12" /><Relationship Type="http://schemas.openxmlformats.org/officeDocument/2006/relationships/officeDocument" Target="/ppt/presentation.xml" Id="Rba478e2264b6446a" /></Relationships>
</file>

<file path=ppt/presentation.xml><?xml version="1.0" encoding="utf-8"?>
<p:presentation xmlns:p="http://schemas.openxmlformats.org/presentationml/2006/main">
  <p:sldMasterIdLst>
    <p:sldMasterId xmlns:r="http://schemas.openxmlformats.org/officeDocument/2006/relationships" id="2147483648" r:id="R43f1f405d31c4f43"/>
  </p:sldMasterIdLst>
  <p:notesMasterIdLst>
    <p:notesMasterId xmlns:r="http://schemas.openxmlformats.org/officeDocument/2006/relationships" r:id="R0cc211e2317d4385"/>
  </p:notesMasterIdLst>
  <p:sldIdLst>
    <p:sldId xmlns:r="http://schemas.openxmlformats.org/officeDocument/2006/relationships" id="256" r:id="R6a009c46cc004319"/>
    <p:sldId xmlns:r="http://schemas.openxmlformats.org/officeDocument/2006/relationships" id="257" r:id="R0bcd7ef09cdb463c"/>
    <p:sldId xmlns:r="http://schemas.openxmlformats.org/officeDocument/2006/relationships" id="258" r:id="Rf403d53ee36243d8"/>
    <p:sldId xmlns:r="http://schemas.openxmlformats.org/officeDocument/2006/relationships" id="259" r:id="R86f05a992a34439f"/>
    <p:sldId xmlns:r="http://schemas.openxmlformats.org/officeDocument/2006/relationships" id="260" r:id="R544c87d0e50c40a8"/>
    <p:sldId xmlns:r="http://schemas.openxmlformats.org/officeDocument/2006/relationships" id="261" r:id="R893fb77e906b4c0a"/>
    <p:sldId xmlns:r="http://schemas.openxmlformats.org/officeDocument/2006/relationships" id="262" r:id="R4bf098749c1448a6"/>
    <p:sldId xmlns:r="http://schemas.openxmlformats.org/officeDocument/2006/relationships" id="263" r:id="R61e3b2d46d384600"/>
    <p:sldId xmlns:r="http://schemas.openxmlformats.org/officeDocument/2006/relationships" id="264" r:id="R565b15d8aafb4ce5"/>
    <p:sldId xmlns:r="http://schemas.openxmlformats.org/officeDocument/2006/relationships" id="265" r:id="R633a71f8fdf44b9c"/>
    <p:sldId xmlns:r="http://schemas.openxmlformats.org/officeDocument/2006/relationships" id="266" r:id="R278cb80257fc4793"/>
    <p:sldId xmlns:r="http://schemas.openxmlformats.org/officeDocument/2006/relationships" id="267" r:id="R7f4f17c6a24b4273"/>
    <p:sldId xmlns:r="http://schemas.openxmlformats.org/officeDocument/2006/relationships" id="268" r:id="R9a599d5d80024e8f"/>
    <p:sldId xmlns:r="http://schemas.openxmlformats.org/officeDocument/2006/relationships" id="269" r:id="R120271608c454270"/>
    <p:sldId xmlns:r="http://schemas.openxmlformats.org/officeDocument/2006/relationships" id="270" r:id="R3890113e02ec44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0781c84f4f4fd3" /><Relationship Type="http://schemas.openxmlformats.org/officeDocument/2006/relationships/slideMaster" Target="/ppt/slideMasters/slideMaster1.xml" Id="R43f1f405d31c4f43" /><Relationship Type="http://schemas.openxmlformats.org/officeDocument/2006/relationships/notesMaster" Target="/ppt/notesMasters/notesMaster1.xml" Id="R0cc211e2317d4385" /><Relationship Type="http://schemas.openxmlformats.org/officeDocument/2006/relationships/presProps" Target="/ppt/presProps.xml" Id="R67b0642055c34b2e" /><Relationship Type="http://schemas.openxmlformats.org/officeDocument/2006/relationships/tableStyles" Target="/ppt/tableStyles.xml" Id="Ra946d0d494ca420f" /><Relationship Type="http://schemas.openxmlformats.org/officeDocument/2006/relationships/slide" Target="/ppt/slides/slide1.xml" Id="R6a009c46cc004319" /><Relationship Type="http://schemas.openxmlformats.org/officeDocument/2006/relationships/slide" Target="/ppt/slides/slide2.xml" Id="R0bcd7ef09cdb463c" /><Relationship Type="http://schemas.openxmlformats.org/officeDocument/2006/relationships/slide" Target="/ppt/slides/slide3.xml" Id="Rf403d53ee36243d8" /><Relationship Type="http://schemas.openxmlformats.org/officeDocument/2006/relationships/slide" Target="/ppt/slides/slide4.xml" Id="R86f05a992a34439f" /><Relationship Type="http://schemas.openxmlformats.org/officeDocument/2006/relationships/slide" Target="/ppt/slides/slide5.xml" Id="R544c87d0e50c40a8" /><Relationship Type="http://schemas.openxmlformats.org/officeDocument/2006/relationships/slide" Target="/ppt/slides/slide6.xml" Id="R893fb77e906b4c0a" /><Relationship Type="http://schemas.openxmlformats.org/officeDocument/2006/relationships/slide" Target="/ppt/slides/slide7.xml" Id="R4bf098749c1448a6" /><Relationship Type="http://schemas.openxmlformats.org/officeDocument/2006/relationships/slide" Target="/ppt/slides/slide8.xml" Id="R61e3b2d46d384600" /><Relationship Type="http://schemas.openxmlformats.org/officeDocument/2006/relationships/slide" Target="/ppt/slides/slide9.xml" Id="R565b15d8aafb4ce5" /><Relationship Type="http://schemas.openxmlformats.org/officeDocument/2006/relationships/slide" Target="/ppt/slides/slide10.xml" Id="R633a71f8fdf44b9c" /><Relationship Type="http://schemas.openxmlformats.org/officeDocument/2006/relationships/slide" Target="/ppt/slides/slide11.xml" Id="R278cb80257fc4793" /><Relationship Type="http://schemas.openxmlformats.org/officeDocument/2006/relationships/slide" Target="/ppt/slides/slide12.xml" Id="R7f4f17c6a24b4273" /><Relationship Type="http://schemas.openxmlformats.org/officeDocument/2006/relationships/slide" Target="/ppt/slides/slide13.xml" Id="R9a599d5d80024e8f" /><Relationship Type="http://schemas.openxmlformats.org/officeDocument/2006/relationships/slide" Target="/ppt/slides/slide14.xml" Id="R120271608c454270" /><Relationship Type="http://schemas.openxmlformats.org/officeDocument/2006/relationships/slide" Target="/ppt/slides/slide15.xml" Id="R3890113e02ec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9c6f006e7941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a8f24cd21499d" /><Relationship Type="http://schemas.openxmlformats.org/officeDocument/2006/relationships/notesMaster" Target="/ppt/notesMasters/notesMaster1.xml" Id="R9c18a84d275040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dd392b45c74cb5" /><Relationship Type="http://schemas.openxmlformats.org/officeDocument/2006/relationships/notesMaster" Target="/ppt/notesMasters/notesMaster1.xml" Id="R13d14aa03ad741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5be79f578a46b8" /><Relationship Type="http://schemas.openxmlformats.org/officeDocument/2006/relationships/notesMaster" Target="/ppt/notesMasters/notesMaster1.xml" Id="Rb346a499b47c47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aeea441b1b4e02" /><Relationship Type="http://schemas.openxmlformats.org/officeDocument/2006/relationships/notesMaster" Target="/ppt/notesMasters/notesMaster1.xml" Id="R2a443aea58514e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cf01d550bc4cae" /><Relationship Type="http://schemas.openxmlformats.org/officeDocument/2006/relationships/notesMaster" Target="/ppt/notesMasters/notesMaster1.xml" Id="R38bc3db6faa8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6c30e3af3242ae" /><Relationship Type="http://schemas.openxmlformats.org/officeDocument/2006/relationships/notesMaster" Target="/ppt/notesMasters/notesMaster1.xml" Id="Ra1b2d2aa6d7b47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65b865d39c4e06" /><Relationship Type="http://schemas.openxmlformats.org/officeDocument/2006/relationships/notesMaster" Target="/ppt/notesMasters/notesMaster1.xml" Id="R82a4337bdcb049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a4c226e1ca4326" /><Relationship Type="http://schemas.openxmlformats.org/officeDocument/2006/relationships/notesMaster" Target="/ppt/notesMasters/notesMaster1.xml" Id="Rd3f99364411547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5d7af024484903" /><Relationship Type="http://schemas.openxmlformats.org/officeDocument/2006/relationships/notesMaster" Target="/ppt/notesMasters/notesMaster1.xml" Id="Rcb9bdfa1dc89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d854b4f6564a2b" /><Relationship Type="http://schemas.openxmlformats.org/officeDocument/2006/relationships/notesMaster" Target="/ppt/notesMasters/notesMaster1.xml" Id="R0cc65be9d5e345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5ed552e3bd4597" /><Relationship Type="http://schemas.openxmlformats.org/officeDocument/2006/relationships/notesMaster" Target="/ppt/notesMasters/notesMaster1.xml" Id="R9d482260366e4f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3c20a6002e4ebb" /><Relationship Type="http://schemas.openxmlformats.org/officeDocument/2006/relationships/notesMaster" Target="/ppt/notesMasters/notesMaster1.xml" Id="R6a3cc0fba09b4c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a227dcea5f4597" /><Relationship Type="http://schemas.openxmlformats.org/officeDocument/2006/relationships/notesMaster" Target="/ppt/notesMasters/notesMaster1.xml" Id="R412bf138d60a48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80c65e2e8d4247" /><Relationship Type="http://schemas.openxmlformats.org/officeDocument/2006/relationships/notesMaster" Target="/ppt/notesMasters/notesMaster1.xml" Id="R0a9ce4c3ca354f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69fd45b1e84051" /><Relationship Type="http://schemas.openxmlformats.org/officeDocument/2006/relationships/notesMaster" Target="/ppt/notesMasters/notesMaster1.xml" Id="R80899e476e3843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 minutos.</a:t>
            </a:r>
          </a:p>
          <a:p xmlns:a="http://schemas.openxmlformats.org/drawingml/2006/main">
            <a:r>
              <a:t/>
            </a:r>
          </a:p>
          <a:p xmlns:a="http://schemas.openxmlformats.org/drawingml/2006/main">
            <a:r>
              <a:t>Presento una propuesta de extensión formal de Artificial Intelligence in the Knowledge Economy, de Ide y Talamàs. Me concentro en la IA no autónoma, que funciona como asesora. La pregunta es si los costos de validar sus respuestas pueden cambiar qué trabajadores la utilizan. Este primer avance contiene la modificación del modelo, el problema de la firma y sus condiciones de primer orden. La distribución final de usuarios y los efectos salariales todavía son preguntas de investigación.</a:t>
            </a:r>
          </a:p>
          <a:p xmlns:a="http://schemas.openxmlformats.org/drawingml/2006/main">
            <a:r>
              <a:t/>
            </a:r>
          </a:p>
          <a:p xmlns:a="http://schemas.openxmlformats.org/drawingml/2006/main">
            <a:r>
              <a:t>Fuentes: Ide y Talamàs (2025), arXiv:2312.05481v11, secciones 3 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Mi pregunta es bajo qué condiciones un costo de verificación que disminuye con el conocimiento modifica la selección de trabajadores que usan un copiloto. La intuición es sencilla: dos personas pueden recibir la misma respuesta, pero no necesitar los mismos recursos para comprobarla y documentarla. Piensen en un informe técnico. Alguien que domina el área podría validar una fuente con menos recursos que alguien que necesita más comprobaciones. Esto es una hipótesis del modelo, no un hecho universal que ya esté demostrado. El resultado que quiero investigar es si la ventaja tecnológica de la base se debilita cuando existe esa diferencia. Debo distinguir tres cosas: acceso a la respuesta, adopción directa del copiloto y salario final. Una persona podría no usar IA y aun así beneficiarse indirectamente de la reorganización.</a:t>
            </a:r>
          </a:p>
          <a:p xmlns:a="http://schemas.openxmlformats.org/drawingml/2006/main">
            <a:r>
              <a:t/>
            </a:r>
          </a:p>
          <a:p xmlns:a="http://schemas.openxmlformats.org/drawingml/2006/main">
            <a:r>
              <a:t>Fuentes: Propuesta propia. Referencia: https://arxiv.org/html/2312.05481v11#S6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 minutos.</a:t>
            </a:r>
          </a:p>
          <a:p xmlns:a="http://schemas.openxmlformats.org/drawingml/2006/main">
            <a:r>
              <a:t/>
            </a:r>
          </a:p>
          <a:p xmlns:a="http://schemas.openxmlformats.org/drawingml/2006/main">
            <a:r>
              <a:t>El conocimiento humano z está entre cero y uno. Cada trabajador enfrenta un problema cuya dificultad es uniforme. Resuelve la fracción z y consulta la fracción uno menos z. Un asesor dedica h unidades de tiempo a cada consulta. Si atiende a n trabajadores, usa h por n por uno menos z unidades de tiempo. Igualar eso a uno produce n(z). Con h igual a un medio y z igual a un medio, cada trabajador requiere un cuarto del tiempo del asesor y este puede atender a cuatro trabajadores. Con más conocimiento se hacen menos consultas y aumenta el tamaño del equipo. La IA tiene capacidad a fija y aquí solo puede ser asesora. Nos concentramos en trabajadores z menores o iguales a a. Cuando la IA resuelve lo que está dentro de su capacidad, el producto esperado total por trabajador es a, no z más a, porque los problemas resueltos se superponen.</a:t>
            </a:r>
          </a:p>
          <a:p xmlns:a="http://schemas.openxmlformats.org/drawingml/2006/main">
            <a:r>
              <a:t/>
            </a:r>
          </a:p>
          <a:p xmlns:a="http://schemas.openxmlformats.org/drawingml/2006/main">
            <a:r>
              <a:t>Fuentes: Ide y Talamàs (2025), §3.1 y §6. https://arxiv.org/html/2312.05481v11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La Proposición 6 caracteriza el régimen no autónomo. Bajo sus condiciones, cuando se adopta la IA, sus usuarios se ubican en la base de conocimiento. En el caso de cómputo abundante, queda capacidad ociosa y la renta del cómputo es cero. Para una firma activa con IA, el beneficio cero hace que el salario de esos trabajadores sea a. Esto solo describe el tramo de usuarios de IA, no toda la economía. También hay un umbral de adopción: si a no supera el salario del tipo cero antes de IA, no se utiliza la herramienta en ese modelo. El artículo no afirma que cualquier tecnología beneficie siempre a todos. Mi extensión estudiará la robustez de la asignación a la base cuando usar la asesoría tiene un costo adicional que depende del conocimiento.</a:t>
            </a:r>
          </a:p>
          <a:p xmlns:a="http://schemas.openxmlformats.org/drawingml/2006/main">
            <a:r>
              <a:t/>
            </a:r>
          </a:p>
          <a:p xmlns:a="http://schemas.openxmlformats.org/drawingml/2006/main">
            <a:r>
              <a:t>Fuentes: Ide y Talamàs (2025), Proposición 6. https://arxiv.org/html/2312.05481v11#S6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 minutos.</a:t>
            </a:r>
          </a:p>
          <a:p xmlns:a="http://schemas.openxmlformats.org/drawingml/2006/main">
            <a:r>
              <a:t/>
            </a:r>
          </a:p>
          <a:p xmlns:a="http://schemas.openxmlformats.org/drawingml/2006/main">
            <a:r>
              <a:t>Ahora introduzco c(z), el costo de validar respuestas por trabajador y por periodo. La firma lo paga en unidades del bien final. Lo trato como un gasto operativo real: consume recursos y no es una transferencia hacia un verificador al que esté modelando por separado. En esta primera versión no ocupa tiempo adicional del trabajador o del asesor, de manera que la fórmula del tamaño del equipo se mantiene. Tampoco modifica la probabilidad de éxito. La validación es un requisito operativo obligatorio, no una decisión de esfuerzo para detectar alucinaciones. Es una representación reducida y su alcance debe ser explícito. La forma inicial es kappa por uno menos z. Un kappa mayor aumenta el costo y el ahorro asociado a un mayor conocimiento. Cuando kappa es cero recupero el entorno sin esta fricción. Para separar nivel y heterogeneidad, compararé también con un costo constante.</a:t>
            </a:r>
          </a:p>
          <a:p xmlns:a="http://schemas.openxmlformats.org/drawingml/2006/main">
            <a:r>
              <a:t/>
            </a:r>
          </a:p>
          <a:p xmlns:a="http://schemas.openxmlformats.org/drawingml/2006/main">
            <a:r>
              <a:t>Fuentes: Especificación propia. Antecedente de costo constante: repositorio, extensions.md, sección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 minutos.</a:t>
            </a:r>
          </a:p>
          <a:p xmlns:a="http://schemas.openxmlformats.org/drawingml/2006/main">
            <a:r>
              <a:t/>
            </a:r>
          </a:p>
          <a:p xmlns:a="http://schemas.openxmlformats.org/drawingml/2006/main">
            <a:r>
              <a:t>La firma compara qué tipo de trabajador contratar, tomando la función salarial y el precio del cómputo como dados. No elige el conocimiento de una misma persona. Para un equipo de n trabajadores, recibe n por a de ingreso esperado. Paga n salarios, n costos de validación y la renta r de una unidad de IA. Restar esas partidas produce el beneficio de la diapositiva. Es fundamental que el costo c se multiplique por n: es por trabajador, no por firma ni por unidad de IA. Mantenemos las alternativas de producción individual y de equipos humano-humano. La libre entrada exige que ninguna tecnología permita beneficios positivos y que las firmas que operan tengan beneficio cero. Conservamos r en la expresión para ver de dónde sale la FOC; después usaremos r igual a cero en el régimen de cómputo abundante.</a:t>
            </a:r>
          </a:p>
          <a:p xmlns:a="http://schemas.openxmlformats.org/drawingml/2006/main">
            <a:r>
              <a:t/>
            </a:r>
          </a:p>
          <a:p xmlns:a="http://schemas.openxmlformats.org/drawingml/2006/main">
            <a:r>
              <a:t>Fuentes: Problema propio a partir de la tecnología de firma humano–IA de Ide y Talamàs,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2.5 minutos.</a:t>
            </a:r>
          </a:p>
          <a:p xmlns:a="http://schemas.openxmlformats.org/drawingml/2006/main">
            <a:r>
              <a:t/>
            </a:r>
          </a:p>
          <a:p xmlns:a="http://schemas.openxmlformats.org/drawingml/2006/main">
            <a:r>
              <a:t>Derivo el beneficio respecto de z, en un punto interior donde la función salarial es diferenciable. La expresión es un producto: n(z) por el margen por trabajador. Por la regla del producto, aparece n prima multiplicado por el margen, y n multiplicado por la derivada del margen. Como a es fijo, su derivada es cero. Como r es un precio dado, también desaparece al derivar. La derivada del margen es menos la derivada del salario menos la derivada del costo. Igualo a cero. Luego divido por n, que es positivo. La razón n prima sobre n es uno sobre uno menos z. Finalmente, beneficio cero dice que el margen por trabajador es r dividido por n, equivalente a r por h por uno menos z. Al sustituirlo obtengo w prima más c prima igual a h por r. Esta FOC es necesaria para un óptimo interior, no reemplaza las condiciones de borde o de equilibrio. Dedico una pausa a explicar los dos términos de la primera línea.</a:t>
            </a:r>
          </a:p>
          <a:p xmlns:a="http://schemas.openxmlformats.org/drawingml/2006/main">
            <a:r>
              <a:t/>
            </a:r>
          </a:p>
          <a:p xmlns:a="http://schemas.openxmlformats.org/drawingml/2006/main">
            <a:r>
              <a:t>Fuentes: Derivación propia. La fórmula n(z) proviene de Ide y Talamàs (2025),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Para asegurar cómputo ocioso supongo mu mayor que h. Es una condición suficiente conservadora porque la masa humana es uno y cada usuario requiere como máximo h unidades de cómputo asesor. En ese régimen r es cero. Beneficio cero deja el salario a menos c(z). Derivar da que la pendiente del salario es menos la pendiente del costo. Si c(z) es kappa por uno menos z, c prima es menos kappa y la pendiente salarial es kappa. ¿Qué significa? Entre tipos que efectivamente trabajan con IA, un mayor conocimiento ahorra validación y ese ahorro permite pagar más. Si el costo es constante, reduce el nivel de la oferta pero no crea esta pendiente. No concluyo que cada persona gane frente a su situación inicial: comparo tipos dentro de una tecnología activa. Para comparar antes y después necesito los salarios del equilibrio completo.</a:t>
            </a:r>
          </a:p>
          <a:p xmlns:a="http://schemas.openxmlformats.org/drawingml/2006/main">
            <a:r>
              <a:t/>
            </a:r>
          </a:p>
          <a:p xmlns:a="http://schemas.openxmlformats.org/drawingml/2006/main">
            <a:r>
              <a:t>Fuentes: Implicación local propia, condicionada a actividad humano–IA y r =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Ahora tomo el salario de equilibrio sin IA, w cero, como punto de comparación. La oferta máxima que puede financiar una firma con copiloto y renta cero es a menos c. Su diferencia con el salario inicial es Delta cero. Si es positiva, existe una oportunidad de entrada a esos salarios, porque la nueva tecnología podría mejorar la oferta al trabajador y seguir siendo rentable. Si es negativa, esa oferta directa no alcanza. La pendiente de Delta es el ahorro marginal en verificación menos el aumento marginal del salario inicial. Con costo lineal, es kappa menos w cero prima. Esto permite explorar una situación donde la base no resulta atractiva para entrada directa y sí lo hace un intervalo intermedio. Pero w cero cambia después de que las firmas se reorganizan. Por eso este cálculo no debe llamarse el conjunto de adoptantes del equilibrio final.</a:t>
            </a:r>
          </a:p>
          <a:p xmlns:a="http://schemas.openxmlformats.org/drawingml/2006/main">
            <a:r>
              <a:t/>
            </a:r>
          </a:p>
          <a:p xmlns:a="http://schemas.openxmlformats.org/drawingml/2006/main">
            <a:r>
              <a:t>Fuentes: Comparación de entrada propia. w⁰ es el salario del equilibrio sin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Este ejemplo es ilustrativo y no está calibrado con datos. Uso distribución uniforme, h igual a 0.5, a igual a 0.88 y kappa igual a 0.53. El salario sin IA se calcula con la solución uniforme documentada en el repositorio. En el tipo cero, la oferta de IA es 0.35 y el salario previo aproximadamente 0.357: la diferencia es negativa. En z igual a 0.25, el costo cae a 0.3975 y la oferta es 0.4825, ligeramente por encima del salario previo 0.4744. En z igual a 0.6, aunque verificar cuesta menos, el salario alternativo ya es más alto que la oferta de IA. El ejemplo muestra la competencia entre menor costo de validación y mayor salario externo. No he recalculado el equilibrio después de la entrada, ni estoy estimando un efecto causal. La diferencia positiva es pequeña y justifica estudiar sensibilidad en el siguiente avance.</a:t>
            </a:r>
          </a:p>
          <a:p xmlns:a="http://schemas.openxmlformats.org/drawingml/2006/main">
            <a:r>
              <a:t/>
            </a:r>
          </a:p>
          <a:p xmlns:a="http://schemas.openxmlformats.org/drawingml/2006/main">
            <a:r>
              <a:t>Fuentes: Cálculo propio. Salario sin IA: fórmula uniforme de extensions.md §4 y sim.py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La primera tarea es caracterizar qué tipos usan IA: si siguen formando un intervalo en la base, si aparece un intervalo intermedio o si la forma depende de parámetros. La segunda es medir los cambios salariales respecto de dos comparaciones: la economía sin IA y la economía con copiloto sin costos. Es importante mantener ambas porque contestan preguntas distintas. La tercera es distinguir el efecto del nivel del costo del efecto de su pendiente. Un costo constante puede reducir la adopción sin favorecer relativamente a tipos más preparados. Mi conjetura es que una caída suficientemente fuerte del costo con el conocimiento puede desplazar la adopción directa. Todavía no afirmo que la base pierda salario o que los expertos siempre ganen. El resultado también podría ser que, bajo ciertas condiciones, la selección original sea robusta. Eso sería informativo.</a:t>
            </a:r>
          </a:p>
          <a:p xmlns:a="http://schemas.openxmlformats.org/drawingml/2006/main">
            <a:r>
              <a:t/>
            </a:r>
          </a:p>
          <a:p xmlns:a="http://schemas.openxmlformats.org/drawingml/2006/main">
            <a:r>
              <a:t>Fuentes: Agenda de investigación propia. Son preguntas y conjeturas, no resultados del equilibrio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 minutos.</a:t>
            </a:r>
          </a:p>
          <a:p xmlns:a="http://schemas.openxmlformats.org/drawingml/2006/main">
            <a:r>
              <a:t/>
            </a:r>
          </a:p>
          <a:p xmlns:a="http://schemas.openxmlformats.org/drawingml/2006/main">
            <a:r>
              <a:t>El siguiente avance resolverá la reasignación. Adaptaré el problema de asignación del repositorio, reemplazando el producto de la actividad humano-IA por su producto neto del costo de validación. Mantendré las restricciones de recursos humanos y de cómputo. Primero comprobaré que el costo cero recupera el caso base. Después compararé costos constantes y heterogéneos, variando la capacidad de IA y kappa. Registraré salarios y masas de usuarios por nivel de conocimiento. Verificaré beneficio no positivo de todas las tecnologías, igualdad para las activas, vaciado de mercados y sensibilidad a la malla. Una aproximación discreta no será presentada como una prueba del continuo. Mi contribución propuesta es identificar condiciones bajo las cuales la capacidad de validar cambia el acceso efectivo al conocimiento de IA. Hasta ahora he especificado la fricción y derivado relaciones locales. La distribución final de beneficios sigue siendo el objeto de investigación. Termino recordando la pregunta inicial y dejo abiertas preguntas sobre la interpretación del costo y la estrategia de solución.</a:t>
            </a:r>
          </a:p>
          <a:p xmlns:a="http://schemas.openxmlformats.org/drawingml/2006/main">
            <a:r>
              <a:t/>
            </a:r>
          </a:p>
          <a:p xmlns:a="http://schemas.openxmlformats.org/drawingml/2006/main">
            <a:r>
              <a:t>Fuentes: Propuesta propia. Implementación de referencia: https://github.com/sbvasquezg-ux/ai-05-ide/blob/main/sim.py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Apéndice para preguntas.</a:t>
            </a:r>
          </a:p>
          <a:p xmlns:a="http://schemas.openxmlformats.org/drawingml/2006/main">
            <a:r>
              <a:t/>
            </a:r>
          </a:p>
          <a:p xmlns:a="http://schemas.openxmlformats.org/drawingml/2006/main">
            <a:r>
              <a:t>Si el máximo se encuentra en cero, una condición necesaria con derivada lateral es que la derivada del beneficio hacia la derecha sea no positiva. Si está en a, la derivada desde la izquierda debe ser no negativa. En un punto interior estacionario, la segunda derivada es menos n por la suma de las segundas derivadas de salario y costo. Debe ser no positiva para un máximo local. En un intervalo activo competitivo, la identidad salarial puede hacer que la firma tenga beneficio cero para muchos tipos. Por eso no debo interpretar la FOC como una ecuación que necesariamente selecciona un único z. En quiebres de la función salarial usaré las desigualdades de beneficio directamente.</a:t>
            </a:r>
          </a:p>
          <a:p xmlns:a="http://schemas.openxmlformats.org/drawingml/2006/main">
            <a:r>
              <a:t/>
            </a:r>
          </a:p>
          <a:p xmlns:a="http://schemas.openxmlformats.org/drawingml/2006/main">
            <a:r>
              <a:t>Fuentes: Derivación propia. Condiciones locales, no prueba de existencia o unicidad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Apéndice para preguntas.</a:t>
            </a:r>
          </a:p>
          <a:p xmlns:a="http://schemas.openxmlformats.org/drawingml/2006/main">
            <a:r>
              <a:t/>
            </a:r>
          </a:p>
          <a:p xmlns:a="http://schemas.openxmlformats.org/drawingml/2006/main">
            <a:r>
              <a:t>Además de la FOC, el equilibrio requiere que ninguna firma gane beneficios positivos. La primera desigualdad viene de la producción individual. La segunda corresponde a firmas con IA, en el régimen r igual a cero. La tercera viene de equipos humanos, expresada por trabajador. Cada una se cumple con igualdad para la actividad utilizada. A esto hay que agregar asignaciones no negativas, uso de cada tipo humano igual a su dotación, y demanda de cómputo no mayor que mu con complementariedad. El problema de asignación maximiza producto neto de c. Sus precios duales candidatos son salarios. Esto es una ruta de solución; todavía se deben comprobar existencia, selección de asignaciones y propiedades de salarios en la extensión.</a:t>
            </a:r>
          </a:p>
          <a:p xmlns:a="http://schemas.openxmlformats.org/drawingml/2006/main">
            <a:r>
              <a:t/>
            </a:r>
          </a:p>
          <a:p xmlns:a="http://schemas.openxmlformats.org/drawingml/2006/main">
            <a:r>
              <a:t>Fuentes: Condiciones de no beneficio positivo derivadas de las tecnologías propuestas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Apéndice para preguntas.</a:t>
            </a:r>
          </a:p>
          <a:p xmlns:a="http://schemas.openxmlformats.org/drawingml/2006/main">
            <a:r>
              <a:t/>
            </a:r>
          </a:p>
          <a:p xmlns:a="http://schemas.openxmlformats.org/drawingml/2006/main">
            <a:r>
              <a:t>La referencia teórica es Ide y Talamàs, publicado en Journal of Political Economy en 2025. Se utiliza la versión arXiv v11 del repositorio para la notación y la Proposición 6. Las fórmulas uniformes del ejemplo vienen del trabajo de reconstrucción del repositorio, no se presentan como ecuaciones numeradas de los autores. El costo heterogéneo, las condiciones derivadas y las conjeturas de esta presentación son propuestas de la extensión. La revisión de literatura sobre validación debe ampliarse antes de afirmar novedad respecto de toda la literatura.</a:t>
            </a:r>
          </a:p>
          <a:p xmlns:a="http://schemas.openxmlformats.org/drawingml/2006/main">
            <a:r>
              <a:t/>
            </a:r>
          </a:p>
          <a:p xmlns:a="http://schemas.openxmlformats.org/drawingml/2006/main">
            <a:r>
              <a:t>Fuentes: Fuentes primarias y repositorio de trabajo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1c4670bd4d40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be5f9750bb42ed" /><Relationship Type="http://schemas.openxmlformats.org/officeDocument/2006/relationships/slideLayout" Target="/ppt/slideLayouts/slideLayout1.xml" Id="R78b5378e91fd41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b5378e91fd41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3c984c5ba24c1e" /><Relationship Type="http://schemas.openxmlformats.org/officeDocument/2006/relationships/notesSlide" Target="/ppt/notesSlides/notesSlide1.xml" Id="Rf6096f9ebc8149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80db41b34e477e" /><Relationship Type="http://schemas.openxmlformats.org/officeDocument/2006/relationships/notesSlide" Target="/ppt/notesSlides/notesSlide2.xml" Id="R45f0e4a2406e46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dc8f65063a432d" /><Relationship Type="http://schemas.openxmlformats.org/officeDocument/2006/relationships/notesSlide" Target="/ppt/notesSlides/notesSlide3.xml" Id="R0f55aad93ec344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d23e8e16a64ddb" /><Relationship Type="http://schemas.openxmlformats.org/officeDocument/2006/relationships/notesSlide" Target="/ppt/notesSlides/notesSlide4.xml" Id="Rd1c1cc57975249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564f6c5c054b3a" /><Relationship Type="http://schemas.openxmlformats.org/officeDocument/2006/relationships/notesSlide" Target="/ppt/notesSlides/notesSlide5.xml" Id="R4445661baa224d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266a3916eb4389" /><Relationship Type="http://schemas.openxmlformats.org/officeDocument/2006/relationships/notesSlide" Target="/ppt/notesSlides/notesSlide6.xml" Id="R1d73a44ed4c645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7f1a1820f74ca1" /><Relationship Type="http://schemas.openxmlformats.org/officeDocument/2006/relationships/notesSlide" Target="/ppt/notesSlides/notesSlide7.xml" Id="Rf6c4ac37b96140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89f008b1344a37" /><Relationship Type="http://schemas.openxmlformats.org/officeDocument/2006/relationships/notesSlide" Target="/ppt/notesSlides/notesSlide8.xml" Id="R59caa6afcc6442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82e5814090741fc" /><Relationship Type="http://schemas.openxmlformats.org/officeDocument/2006/relationships/notesSlide" Target="/ppt/notesSlides/notesSlide9.xml" Id="R19c2537bd70341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3b0373fa5648ed" /><Relationship Type="http://schemas.openxmlformats.org/officeDocument/2006/relationships/notesSlide" Target="/ppt/notesSlides/notesSlide10.xml" Id="R40ba0f98034440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c2ad8c944c4511" /><Relationship Type="http://schemas.openxmlformats.org/officeDocument/2006/relationships/notesSlide" Target="/ppt/notesSlides/notesSlide11.xml" Id="Ra04fbf1bc73941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cb1f0a505d4f58" /><Relationship Type="http://schemas.openxmlformats.org/officeDocument/2006/relationships/notesSlide" Target="/ppt/notesSlides/notesSlide12.xml" Id="R7360334fbbed47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7e2604f7144545" /><Relationship Type="http://schemas.openxmlformats.org/officeDocument/2006/relationships/notesSlide" Target="/ppt/notesSlides/notesSlide13.xml" Id="R86923e16578341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f4c8f33d174471" /><Relationship Type="http://schemas.openxmlformats.org/officeDocument/2006/relationships/notesSlide" Target="/ppt/notesSlides/notesSlide14.xml" Id="Rd79ceadccb7745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e89aff95a9474d" /><Relationship Type="http://schemas.openxmlformats.org/officeDocument/2006/relationships/notesSlide" Target="/ppt/notesSlides/notesSlide15.xml" Id="Rb82beafc000141a1"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743266-84E2-47D8-B00F-7D35799F992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Verificación heterogénea</a:t>
            </a:r>
          </a:p>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y acceso a la IA</a:t>
            </a:r>
          </a:p>
        </p:txBody>
      </p:sp>
      <p:sp>
        <p:nvSpPr>
          <p:cNvPr id="2" name="">
            <a:extLst xmlns:a="http://schemas.openxmlformats.org/drawingml/2006/main">
              <a:ext uri="{FF2B5EF4-FFF2-40B4-BE49-F238E27FC236}">
                <a16:creationId xmlns:a16="http://schemas.microsoft.com/office/drawing/2014/main" id="{1ACF4820-DE65-4B81-9E1A-548728999542}"/>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4F45643C-1CA9-48F0-8D02-2978009F7271}"/>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Ide y Talamàs (2025), arXiv:2312.05481v11, secciones 3 y 6</a:t>
            </a:r>
          </a:p>
        </p:txBody>
      </p:sp>
      <p:sp>
        <p:nvSpPr>
          <p:cNvPr id="4" name="">
            <a:extLst xmlns:a="http://schemas.openxmlformats.org/drawingml/2006/main">
              <a:ext uri="{FF2B5EF4-FFF2-40B4-BE49-F238E27FC236}">
                <a16:creationId xmlns:a16="http://schemas.microsoft.com/office/drawing/2014/main" id="{F5CDEF16-6915-4634-9352-0BC79FD98314}"/>
              </a:ext>
            </a:extLst>
          </p:cNvPr>
          <p:cNvSpPr>
            <a:spLocks xmlns:a="http://schemas.openxmlformats.org/drawingml/2006/main" noGrp="1"/>
          </p:cNvSpPr>
          <p:nvPr/>
        </p:nvSpPr>
        <p:spPr>
          <a:xfrm xmlns:a="http://schemas.openxmlformats.org/drawingml/2006/main">
            <a:off x="666750" y="266700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2C40"/>
                </a:solidFill>
                <a:latin typeface="Arial"/>
                <a:ea typeface="Arial"/>
                <a:cs typeface="Arial"/>
              </a:defRPr>
            </a:pPr>
            <a:r>
              <a:rPr sz="2400" b="0">
                <a:solidFill>
                  <a:srgbClr val="152C40"/>
                </a:solidFill>
                <a:latin typeface="Arial"/>
                <a:ea typeface="Arial"/>
                <a:cs typeface="Arial"/>
              </a:rPr>
              <a:t>Extensión formal de Ide y Talamàs (2025)</a:t>
            </a:r>
          </a:p>
        </p:txBody>
      </p:sp>
      <p:sp>
        <p:nvSpPr>
          <p:cNvPr id="5" name="">
            <a:extLst xmlns:a="http://schemas.openxmlformats.org/drawingml/2006/main">
              <a:ext uri="{FF2B5EF4-FFF2-40B4-BE49-F238E27FC236}">
                <a16:creationId xmlns:a16="http://schemas.microsoft.com/office/drawing/2014/main" id="{F6A5A9FD-B030-4A90-88C0-4714F83F0D41}"/>
              </a:ext>
            </a:extLst>
          </p:cNvPr>
          <p:cNvSpPr>
            <a:spLocks xmlns:a="http://schemas.openxmlformats.org/drawingml/2006/main" noGrp="1"/>
          </p:cNvSpPr>
          <p:nvPr/>
        </p:nvSpPr>
        <p:spPr>
          <a:xfrm xmlns:a="http://schemas.openxmlformats.org/drawingml/2006/main">
            <a:off x="666750" y="333375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Primer avance de investigación</a:t>
            </a:r>
          </a:p>
        </p:txBody>
      </p:sp>
      <p:sp>
        <p:nvSpPr>
          <p:cNvPr id="6" name="">
            <a:extLst xmlns:a="http://schemas.openxmlformats.org/drawingml/2006/main">
              <a:ext uri="{FF2B5EF4-FFF2-40B4-BE49-F238E27FC236}">
                <a16:creationId xmlns:a16="http://schemas.microsoft.com/office/drawing/2014/main" id="{59CC6A36-FF09-4BC4-BEC2-DD3757B0DCDD}"/>
              </a:ext>
            </a:extLst>
          </p:cNvPr>
          <p:cNvSpPr>
            <a:spLocks xmlns:a="http://schemas.openxmlformats.org/drawingml/2006/main" noGrp="1"/>
          </p:cNvSpPr>
          <p:nvPr/>
        </p:nvSpPr>
        <p:spPr>
          <a:xfrm xmlns:a="http://schemas.openxmlformats.org/drawingml/2006/main">
            <a:off x="666750" y="46482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087F83"/>
                </a:solidFill>
                <a:latin typeface="Arial"/>
                <a:ea typeface="Arial"/>
                <a:cs typeface="Arial"/>
              </a:defRPr>
            </a:pPr>
            <a:r>
              <a:rPr sz="1875" b="1">
                <a:solidFill>
                  <a:srgbClr val="087F83"/>
                </a:solidFill>
                <a:latin typeface="Arial"/>
                <a:ea typeface="Arial"/>
                <a:cs typeface="Arial"/>
              </a:rPr>
              <a:t>Costo de validación según conocimiento humano</a:t>
            </a:r>
          </a:p>
        </p:txBody>
      </p:sp>
    </p:spTree>
    <p:extLst>
      <p:ext uri="{BB962C8B-B14F-4D97-AF65-F5344CB8AC3E}">
        <p14:creationId xmlns:p14="http://schemas.microsoft.com/office/powerpoint/2010/main" val="208116549"/>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13301A-AC61-4812-82A4-8AEB089737E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Pregunta de investigación</a:t>
            </a:r>
          </a:p>
        </p:txBody>
      </p:sp>
      <p:sp>
        <p:nvSpPr>
          <p:cNvPr id="2" name="">
            <a:extLst xmlns:a="http://schemas.openxmlformats.org/drawingml/2006/main">
              <a:ext uri="{FF2B5EF4-FFF2-40B4-BE49-F238E27FC236}">
                <a16:creationId xmlns:a16="http://schemas.microsoft.com/office/drawing/2014/main" id="{5F7DC665-915A-46B7-BA1B-8A052B9422BB}"/>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8B630281-4495-4615-A6B0-48A97E5147D7}"/>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Propuesta propia. Referencia: https://arxiv.org/html/2312.05481v11#S6</a:t>
            </a:r>
          </a:p>
        </p:txBody>
      </p:sp>
      <p:sp>
        <p:nvSpPr>
          <p:cNvPr id="4" name="">
            <a:extLst xmlns:a="http://schemas.openxmlformats.org/drawingml/2006/main">
              <a:ext uri="{FF2B5EF4-FFF2-40B4-BE49-F238E27FC236}">
                <a16:creationId xmlns:a16="http://schemas.microsoft.com/office/drawing/2014/main" id="{C2D8F4FB-0D43-47E3-A788-493EAD08DB7D}"/>
              </a:ext>
            </a:extLst>
          </p:cNvPr>
          <p:cNvSpPr>
            <a:spLocks xmlns:a="http://schemas.openxmlformats.org/drawingml/2006/main" noGrp="1"/>
          </p:cNvSpPr>
          <p:nvPr/>
        </p:nvSpPr>
        <p:spPr>
          <a:xfrm xmlns:a="http://schemas.openxmlformats.org/drawingml/2006/main">
            <a:off x="666750" y="1666875"/>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0">
                <a:solidFill>
                  <a:srgbClr val="152C40"/>
                </a:solidFill>
                <a:latin typeface="Arial"/>
                <a:ea typeface="Arial"/>
                <a:cs typeface="Arial"/>
              </a:defRPr>
            </a:pPr>
            <a:r>
              <a:rPr sz="2925" b="0">
                <a:solidFill>
                  <a:srgbClr val="152C40"/>
                </a:solidFill>
                <a:latin typeface="Arial"/>
                <a:ea typeface="Arial"/>
                <a:cs typeface="Arial"/>
              </a:rPr>
              <a:t>¿Quién utiliza un copiloto cuando validar sus respuestas cuesta más a quienes saben menos?</a:t>
            </a:r>
          </a:p>
        </p:txBody>
      </p:sp>
      <p:sp>
        <p:nvSpPr>
          <p:cNvPr id="5" name="">
            <a:extLst xmlns:a="http://schemas.openxmlformats.org/drawingml/2006/main">
              <a:ext uri="{FF2B5EF4-FFF2-40B4-BE49-F238E27FC236}">
                <a16:creationId xmlns:a16="http://schemas.microsoft.com/office/drawing/2014/main" id="{10E7A2C9-2EDB-4BAF-846F-264F143976DF}"/>
              </a:ext>
            </a:extLst>
          </p:cNvPr>
          <p:cNvSpPr>
            <a:spLocks xmlns:a="http://schemas.openxmlformats.org/drawingml/2006/main" noGrp="1"/>
          </p:cNvSpPr>
          <p:nvPr/>
        </p:nvSpPr>
        <p:spPr>
          <a:xfrm xmlns:a="http://schemas.openxmlformats.org/drawingml/2006/main">
            <a:off x="666750" y="3733800"/>
            <a:ext cx="10572750" cy="9525"/>
          </a:xfrm>
          <a:prstGeom xmlns:a="http://schemas.openxmlformats.org/drawingml/2006/main" prst="rect">
            <a:avLst/>
          </a:prstGeom>
          <a:solidFill xmlns:a="http://schemas.openxmlformats.org/drawingml/2006/main">
            <a:srgbClr val="CDD6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F5BAA9-F1BE-4EBD-B86F-D7292F9410EA}"/>
              </a:ext>
            </a:extLst>
          </p:cNvPr>
          <p:cNvSpPr>
            <a:spLocks xmlns:a="http://schemas.openxmlformats.org/drawingml/2006/main" noGrp="1"/>
          </p:cNvSpPr>
          <p:nvPr/>
        </p:nvSpPr>
        <p:spPr>
          <a:xfrm xmlns:a="http://schemas.openxmlformats.org/drawingml/2006/main">
            <a:off x="666750" y="411480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Objeto de estudio: selección de usuarios de IA</a:t>
            </a:r>
          </a:p>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y consecuencias salariales de equilibrio</a:t>
            </a:r>
          </a:p>
        </p:txBody>
      </p:sp>
    </p:spTree>
    <p:extLst>
      <p:ext uri="{BB962C8B-B14F-4D97-AF65-F5344CB8AC3E}">
        <p14:creationId xmlns:p14="http://schemas.microsoft.com/office/powerpoint/2010/main" val="317584831"/>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6D84B0-A15D-4D28-B907-CDF06C9B222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Modelo de referencia</a:t>
            </a:r>
          </a:p>
        </p:txBody>
      </p:sp>
      <p:sp>
        <p:nvSpPr>
          <p:cNvPr id="2" name="">
            <a:extLst xmlns:a="http://schemas.openxmlformats.org/drawingml/2006/main">
              <a:ext uri="{FF2B5EF4-FFF2-40B4-BE49-F238E27FC236}">
                <a16:creationId xmlns:a16="http://schemas.microsoft.com/office/drawing/2014/main" id="{AEA6261E-9000-4460-A444-156EAAB08337}"/>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A8C8CA1F-59AF-4E51-97D4-212B173D04EC}"/>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Ide y Talamàs (2025), §3.1 y §6. https://arxiv.org/html/2312.05481v11</a:t>
            </a:r>
          </a:p>
        </p:txBody>
      </p:sp>
      <p:graphicFrame>
        <p:nvGraphicFramePr>
          <p:cNvPr id="14" name=""/>
          <p:cNvGraphicFramePr/>
          <p:nvPr/>
        </p:nvGraphicFramePr>
        <p:xfrm>
          <a:off xmlns:a="http://schemas.openxmlformats.org/drawingml/2006/main" x="666750" y="1562100"/>
          <a:ext xmlns:a="http://schemas.openxmlformats.org/drawingml/2006/main" cx="6286500" cy="2619375"/>
        </p:xfrm>
        <a:graphic xmlns:a="http://schemas.openxmlformats.org/drawingml/2006/main">
          <a:graphicData uri="http://schemas.openxmlformats.org/drawingml/2006/table">
            <a:tbl>
              <a:tblPr/>
              <a:tblGrid>
                <a:gridCol w="1428750"/>
                <a:gridCol w="4857750"/>
              </a:tblGrid>
              <a:tr h="654844">
                <a:tc>
                  <a:txBody>
                    <a:bodyPr/>
                    <a:lstStyle/>
                    <a:p>
                      <a:pPr algn="l"/>
                      <a:r>
                        <a:rPr sz="1875" b="1">
                          <a:solidFill>
                            <a:srgbClr val="FFFFFF"/>
                          </a:solidFill>
                          <a:latin typeface="Arial"/>
                          <a:ea typeface="Arial"/>
                          <a:cs typeface="Arial"/>
                        </a:rPr>
                        <a:t>Símbolo</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Interpretación</a:t>
                      </a:r>
                    </a:p>
                  </a:txBody>
                  <a:tcPr marL="91440" marR="91440" marT="45720" marB="45720">
                    <a:solidFill>
                      <a:srgbClr val="152C40"/>
                    </a:solidFill>
                  </a:tcPr>
                </a:tc>
              </a:tr>
              <a:tr h="654844">
                <a:tc>
                  <a:txBody>
                    <a:bodyPr/>
                    <a:lstStyle/>
                    <a:p>
                      <a:pPr algn="l"/>
                      <a:r>
                        <a:rPr sz="1875" b="0">
                          <a:solidFill>
                            <a:srgbClr val="152C40"/>
                          </a:solidFill>
                          <a:latin typeface="Arial"/>
                          <a:ea typeface="Arial"/>
                          <a:cs typeface="Arial"/>
                        </a:rPr>
                        <a:t>z</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Conocimiento del trabajador</a:t>
                      </a:r>
                    </a:p>
                  </a:txBody>
                  <a:tcPr marL="91440" marR="91440" marT="45720" marB="45720">
                    <a:solidFill>
                      <a:srgbClr val="FFFFFF"/>
                    </a:solidFill>
                  </a:tcPr>
                </a:tc>
              </a:tr>
              <a:tr h="654844">
                <a:tc>
                  <a:txBody>
                    <a:bodyPr/>
                    <a:lstStyle/>
                    <a:p>
                      <a:pPr algn="l"/>
                      <a:r>
                        <a:rPr sz="1875" b="0">
                          <a:solidFill>
                            <a:srgbClr val="152C40"/>
                          </a:solidFill>
                          <a:latin typeface="Arial"/>
                          <a:ea typeface="Arial"/>
                          <a:cs typeface="Arial"/>
                        </a:rPr>
                        <a:t>a</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Capacidad fija de la IA</a:t>
                      </a:r>
                    </a:p>
                  </a:txBody>
                  <a:tcPr marL="91440" marR="91440" marT="45720" marB="45720">
                    <a:solidFill>
                      <a:srgbClr val="EDF3F2"/>
                    </a:solidFill>
                  </a:tcPr>
                </a:tc>
              </a:tr>
              <a:tr h="654844">
                <a:tc>
                  <a:txBody>
                    <a:bodyPr/>
                    <a:lstStyle/>
                    <a:p>
                      <a:pPr algn="l"/>
                      <a:r>
                        <a:rPr sz="1875" b="0">
                          <a:solidFill>
                            <a:srgbClr val="152C40"/>
                          </a:solidFill>
                          <a:latin typeface="Arial"/>
                          <a:ea typeface="Arial"/>
                          <a:cs typeface="Arial"/>
                        </a:rPr>
                        <a:t>h</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Tiempo del asesor por consulta</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F005B03-3F04-481C-9151-CDE44E223D40}"/>
              </a:ext>
            </a:extLst>
          </p:cNvPr>
          <p:cNvSpPr>
            <a:spLocks xmlns:a="http://schemas.openxmlformats.org/drawingml/2006/main" noGrp="1"/>
          </p:cNvSpPr>
          <p:nvPr/>
        </p:nvSpPr>
        <p:spPr>
          <a:xfrm xmlns:a="http://schemas.openxmlformats.org/drawingml/2006/main">
            <a:off x="8261366" y="2216429"/>
            <a:ext cx="1196816" cy="607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087F83"/>
                </a:solidFill>
                <a:latin typeface="Times New Roman"/>
                <a:ea typeface="Times New Roman"/>
                <a:cs typeface="Times New Roman"/>
              </a:defRPr>
            </a:pPr>
            <a:r>
              <a:rPr sz="3300" b="0">
                <a:solidFill>
                  <a:srgbClr val="087F83"/>
                </a:solidFill>
                <a:latin typeface="Times New Roman"/>
                <a:ea typeface="Times New Roman"/>
                <a:cs typeface="Times New Roman"/>
              </a:rPr>
              <a:t>n(z) = </a:t>
            </a:r>
          </a:p>
        </p:txBody>
      </p:sp>
      <p:sp>
        <p:nvSpPr>
          <p:cNvPr id="6" name="">
            <a:extLst xmlns:a="http://schemas.openxmlformats.org/drawingml/2006/main">
              <a:ext uri="{FF2B5EF4-FFF2-40B4-BE49-F238E27FC236}">
                <a16:creationId xmlns:a16="http://schemas.microsoft.com/office/drawing/2014/main" id="{31C1B543-31E9-487D-AE02-C513886EE680}"/>
              </a:ext>
            </a:extLst>
          </p:cNvPr>
          <p:cNvSpPr>
            <a:spLocks xmlns:a="http://schemas.openxmlformats.org/drawingml/2006/main" noGrp="1"/>
          </p:cNvSpPr>
          <p:nvPr/>
        </p:nvSpPr>
        <p:spPr>
          <a:xfrm xmlns:a="http://schemas.openxmlformats.org/drawingml/2006/main">
            <a:off x="9906286" y="2170328"/>
            <a:ext cx="243745" cy="486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40" b="0">
                <a:solidFill>
                  <a:srgbClr val="087F83"/>
                </a:solidFill>
                <a:latin typeface="Times New Roman"/>
                <a:ea typeface="Times New Roman"/>
                <a:cs typeface="Times New Roman"/>
              </a:defRPr>
            </a:pPr>
            <a:r>
              <a:rPr sz="2640" b="0">
                <a:solidFill>
                  <a:srgbClr val="087F83"/>
                </a:solidFill>
                <a:latin typeface="Times New Roman"/>
                <a:ea typeface="Times New Roman"/>
                <a:cs typeface="Times New Roman"/>
              </a:rPr>
              <a:t>1</a:t>
            </a:r>
          </a:p>
        </p:txBody>
      </p:sp>
      <p:sp>
        <p:nvSpPr>
          <p:cNvPr id="7" name="">
            <a:extLst xmlns:a="http://schemas.openxmlformats.org/drawingml/2006/main">
              <a:ext uri="{FF2B5EF4-FFF2-40B4-BE49-F238E27FC236}">
                <a16:creationId xmlns:a16="http://schemas.microsoft.com/office/drawing/2014/main" id="{B95DDBAA-1A6E-4271-B160-9F625CA50213}"/>
              </a:ext>
            </a:extLst>
          </p:cNvPr>
          <p:cNvSpPr>
            <a:spLocks xmlns:a="http://schemas.openxmlformats.org/drawingml/2006/main" noGrp="1"/>
          </p:cNvSpPr>
          <p:nvPr/>
        </p:nvSpPr>
        <p:spPr>
          <a:xfrm xmlns:a="http://schemas.openxmlformats.org/drawingml/2006/main">
            <a:off x="9410557" y="2618765"/>
            <a:ext cx="1159002" cy="1524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99FA45-A4A9-4245-95A3-2EA54F2E4650}"/>
              </a:ext>
            </a:extLst>
          </p:cNvPr>
          <p:cNvSpPr>
            <a:spLocks xmlns:a="http://schemas.openxmlformats.org/drawingml/2006/main" noGrp="1"/>
          </p:cNvSpPr>
          <p:nvPr/>
        </p:nvSpPr>
        <p:spPr>
          <a:xfrm xmlns:a="http://schemas.openxmlformats.org/drawingml/2006/main">
            <a:off x="9458182" y="2673248"/>
            <a:ext cx="1139952" cy="486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40" b="0">
                <a:solidFill>
                  <a:srgbClr val="087F83"/>
                </a:solidFill>
                <a:latin typeface="Times New Roman"/>
                <a:ea typeface="Times New Roman"/>
                <a:cs typeface="Times New Roman"/>
              </a:defRPr>
            </a:pPr>
            <a:r>
              <a:rPr sz="2640" b="0">
                <a:solidFill>
                  <a:srgbClr val="087F83"/>
                </a:solidFill>
                <a:latin typeface="Times New Roman"/>
                <a:ea typeface="Times New Roman"/>
                <a:cs typeface="Times New Roman"/>
              </a:rPr>
              <a:t>h(1 − z)</a:t>
            </a:r>
          </a:p>
        </p:txBody>
      </p:sp>
      <p:sp>
        <p:nvSpPr>
          <p:cNvPr id="9" name="">
            <a:extLst xmlns:a="http://schemas.openxmlformats.org/drawingml/2006/main">
              <a:ext uri="{FF2B5EF4-FFF2-40B4-BE49-F238E27FC236}">
                <a16:creationId xmlns:a16="http://schemas.microsoft.com/office/drawing/2014/main" id="{B0839A18-606F-4577-85DA-3B771AB611C8}"/>
              </a:ext>
            </a:extLst>
          </p:cNvPr>
          <p:cNvSpPr>
            <a:spLocks xmlns:a="http://schemas.openxmlformats.org/drawingml/2006/main" noGrp="1"/>
          </p:cNvSpPr>
          <p:nvPr/>
        </p:nvSpPr>
        <p:spPr>
          <a:xfrm xmlns:a="http://schemas.openxmlformats.org/drawingml/2006/main">
            <a:off x="7477125" y="33813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Menos consultas permiten</a:t>
            </a:r>
          </a:p>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atender a más trabajadores.</a:t>
            </a:r>
          </a:p>
        </p:txBody>
      </p:sp>
      <p:sp>
        <p:nvSpPr>
          <p:cNvPr id="10" name="">
            <a:extLst xmlns:a="http://schemas.openxmlformats.org/drawingml/2006/main">
              <a:ext uri="{FF2B5EF4-FFF2-40B4-BE49-F238E27FC236}">
                <a16:creationId xmlns:a16="http://schemas.microsoft.com/office/drawing/2014/main" id="{C6095409-E66D-429B-A9ED-21BE6BC28E56}"/>
              </a:ext>
            </a:extLst>
          </p:cNvPr>
          <p:cNvSpPr>
            <a:spLocks xmlns:a="http://schemas.openxmlformats.org/drawingml/2006/main" noGrp="1"/>
          </p:cNvSpPr>
          <p:nvPr/>
        </p:nvSpPr>
        <p:spPr>
          <a:xfrm xmlns:a="http://schemas.openxmlformats.org/drawingml/2006/main">
            <a:off x="666750" y="472440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IA no autónoma: asesora a trabajadores con 0 ≤ z ≤ a.</a:t>
            </a:r>
          </a:p>
        </p:txBody>
      </p:sp>
    </p:spTree>
    <p:extLst>
      <p:ext uri="{BB962C8B-B14F-4D97-AF65-F5344CB8AC3E}">
        <p14:creationId xmlns:p14="http://schemas.microsoft.com/office/powerpoint/2010/main" val="1075353788"/>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FF818D-E659-44C7-B81B-C627B38CB81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Resultado que se quiere extender</a:t>
            </a:r>
          </a:p>
        </p:txBody>
      </p:sp>
      <p:sp>
        <p:nvSpPr>
          <p:cNvPr id="2" name="">
            <a:extLst xmlns:a="http://schemas.openxmlformats.org/drawingml/2006/main">
              <a:ext uri="{FF2B5EF4-FFF2-40B4-BE49-F238E27FC236}">
                <a16:creationId xmlns:a16="http://schemas.microsoft.com/office/drawing/2014/main" id="{0D454246-D2D2-4477-8358-EA694F9EC053}"/>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239055C9-46A4-40E9-8AD5-1F4C9274D4B4}"/>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Ide y Talamàs (2025), Proposición 6. https://arxiv.org/html/2312.05481v11#S6</a:t>
            </a:r>
          </a:p>
        </p:txBody>
      </p:sp>
      <p:sp>
        <p:nvSpPr>
          <p:cNvPr id="4" name="">
            <a:extLst xmlns:a="http://schemas.openxmlformats.org/drawingml/2006/main">
              <a:ext uri="{FF2B5EF4-FFF2-40B4-BE49-F238E27FC236}">
                <a16:creationId xmlns:a16="http://schemas.microsoft.com/office/drawing/2014/main" id="{56148B87-8B28-4519-9EBF-41BC943B0871}"/>
              </a:ext>
            </a:extLst>
          </p:cNvPr>
          <p:cNvSpPr>
            <a:spLocks xmlns:a="http://schemas.openxmlformats.org/drawingml/2006/main" noGrp="1"/>
          </p:cNvSpPr>
          <p:nvPr/>
        </p:nvSpPr>
        <p:spPr>
          <a:xfrm xmlns:a="http://schemas.openxmlformats.org/drawingml/2006/main">
            <a:off x="666750" y="163830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2C40"/>
                </a:solidFill>
                <a:latin typeface="Arial"/>
                <a:ea typeface="Arial"/>
                <a:cs typeface="Arial"/>
              </a:defRPr>
            </a:pPr>
            <a:r>
              <a:rPr sz="2550" b="0">
                <a:solidFill>
                  <a:srgbClr val="152C40"/>
                </a:solidFill>
                <a:latin typeface="Arial"/>
                <a:ea typeface="Arial"/>
                <a:cs typeface="Arial"/>
              </a:rPr>
              <a:t>Con adopción, los usuarios del copiloto se ubican</a:t>
            </a:r>
          </a:p>
          <a:p xmlns:a="http://schemas.openxmlformats.org/drawingml/2006/main">
            <a:pPr>
              <a:defRPr sz="2550" b="0">
                <a:solidFill>
                  <a:srgbClr val="152C40"/>
                </a:solidFill>
                <a:latin typeface="Arial"/>
                <a:ea typeface="Arial"/>
                <a:cs typeface="Arial"/>
              </a:defRPr>
            </a:pPr>
            <a:r>
              <a:rPr sz="2550" b="0">
                <a:solidFill>
                  <a:srgbClr val="152C40"/>
                </a:solidFill>
                <a:latin typeface="Arial"/>
                <a:ea typeface="Arial"/>
                <a:cs typeface="Arial"/>
              </a:rPr>
              <a:t>en la base de conocimiento.</a:t>
            </a:r>
          </a:p>
        </p:txBody>
      </p:sp>
      <p:sp>
        <p:nvSpPr>
          <p:cNvPr id="5" name="">
            <a:extLst xmlns:a="http://schemas.openxmlformats.org/drawingml/2006/main">
              <a:ext uri="{FF2B5EF4-FFF2-40B4-BE49-F238E27FC236}">
                <a16:creationId xmlns:a16="http://schemas.microsoft.com/office/drawing/2014/main" id="{6247F149-AF47-43E5-A9E3-7417A53FA8B5}"/>
              </a:ext>
            </a:extLst>
          </p:cNvPr>
          <p:cNvSpPr>
            <a:spLocks xmlns:a="http://schemas.openxmlformats.org/drawingml/2006/main" noGrp="1"/>
          </p:cNvSpPr>
          <p:nvPr/>
        </p:nvSpPr>
        <p:spPr>
          <a:xfrm xmlns:a="http://schemas.openxmlformats.org/drawingml/2006/main">
            <a:off x="4191905" y="3214983"/>
            <a:ext cx="2221801" cy="635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450" b="0">
                <a:solidFill>
                  <a:srgbClr val="087F83"/>
                </a:solidFill>
                <a:latin typeface="Times New Roman"/>
                <a:ea typeface="Times New Roman"/>
                <a:cs typeface="Times New Roman"/>
              </a:defRPr>
            </a:pPr>
            <a:r>
              <a:rPr sz="3450" b="0">
                <a:solidFill>
                  <a:srgbClr val="087F83"/>
                </a:solidFill>
                <a:latin typeface="Times New Roman"/>
                <a:ea typeface="Times New Roman"/>
                <a:cs typeface="Times New Roman"/>
              </a:rPr>
              <a:t>r = 0     y     </a:t>
            </a:r>
          </a:p>
        </p:txBody>
      </p:sp>
      <p:sp>
        <p:nvSpPr>
          <p:cNvPr id="6" name="">
            <a:extLst xmlns:a="http://schemas.openxmlformats.org/drawingml/2006/main">
              <a:ext uri="{FF2B5EF4-FFF2-40B4-BE49-F238E27FC236}">
                <a16:creationId xmlns:a16="http://schemas.microsoft.com/office/drawing/2014/main" id="{BC70D52A-E3F5-4EEA-B699-FD235400D20F}"/>
              </a:ext>
            </a:extLst>
          </p:cNvPr>
          <p:cNvSpPr>
            <a:spLocks xmlns:a="http://schemas.openxmlformats.org/drawingml/2006/main" noGrp="1"/>
          </p:cNvSpPr>
          <p:nvPr/>
        </p:nvSpPr>
        <p:spPr>
          <a:xfrm xmlns:a="http://schemas.openxmlformats.org/drawingml/2006/main">
            <a:off x="6337506" y="3214983"/>
            <a:ext cx="392621" cy="635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450" b="0">
                <a:solidFill>
                  <a:srgbClr val="087F83"/>
                </a:solidFill>
                <a:latin typeface="Times New Roman"/>
                <a:ea typeface="Times New Roman"/>
                <a:cs typeface="Times New Roman"/>
              </a:defRPr>
            </a:pPr>
            <a:r>
              <a:rPr sz="3450" b="0">
                <a:solidFill>
                  <a:srgbClr val="087F83"/>
                </a:solidFill>
                <a:latin typeface="Times New Roman"/>
                <a:ea typeface="Times New Roman"/>
                <a:cs typeface="Times New Roman"/>
              </a:rPr>
              <a:t>w</a:t>
            </a:r>
          </a:p>
        </p:txBody>
      </p:sp>
      <p:sp>
        <p:nvSpPr>
          <p:cNvPr id="7" name="">
            <a:extLst xmlns:a="http://schemas.openxmlformats.org/drawingml/2006/main">
              <a:ext uri="{FF2B5EF4-FFF2-40B4-BE49-F238E27FC236}">
                <a16:creationId xmlns:a16="http://schemas.microsoft.com/office/drawing/2014/main" id="{E43BAF16-E532-4BA4-ABF2-53922495EAD9}"/>
              </a:ext>
            </a:extLst>
          </p:cNvPr>
          <p:cNvSpPr>
            <a:spLocks xmlns:a="http://schemas.openxmlformats.org/drawingml/2006/main" noGrp="1"/>
          </p:cNvSpPr>
          <p:nvPr/>
        </p:nvSpPr>
        <p:spPr>
          <a:xfrm xmlns:a="http://schemas.openxmlformats.org/drawingml/2006/main">
            <a:off x="6653927" y="3171825"/>
            <a:ext cx="275463" cy="4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4" b="0">
                <a:solidFill>
                  <a:srgbClr val="087F83"/>
                </a:solidFill>
                <a:latin typeface="Times New Roman"/>
                <a:ea typeface="Times New Roman"/>
                <a:cs typeface="Times New Roman"/>
              </a:defRPr>
            </a:pPr>
            <a:r>
              <a:rPr sz="2174" b="0">
                <a:solidFill>
                  <a:srgbClr val="087F83"/>
                </a:solidFill>
                <a:latin typeface="Times New Roman"/>
                <a:ea typeface="Times New Roman"/>
                <a:cs typeface="Times New Roman"/>
              </a:rPr>
              <a:t>N</a:t>
            </a:r>
          </a:p>
        </p:txBody>
      </p:sp>
      <p:sp>
        <p:nvSpPr>
          <p:cNvPr id="8" name="">
            <a:extLst xmlns:a="http://schemas.openxmlformats.org/drawingml/2006/main">
              <a:ext uri="{FF2B5EF4-FFF2-40B4-BE49-F238E27FC236}">
                <a16:creationId xmlns:a16="http://schemas.microsoft.com/office/drawing/2014/main" id="{CAC5042C-AE82-4F72-A1FE-F23F90D04855}"/>
              </a:ext>
            </a:extLst>
          </p:cNvPr>
          <p:cNvSpPr>
            <a:spLocks xmlns:a="http://schemas.openxmlformats.org/drawingml/2006/main" noGrp="1"/>
          </p:cNvSpPr>
          <p:nvPr/>
        </p:nvSpPr>
        <p:spPr>
          <a:xfrm xmlns:a="http://schemas.openxmlformats.org/drawingml/2006/main">
            <a:off x="6853190" y="3214983"/>
            <a:ext cx="1223105" cy="6353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450" b="0">
                <a:solidFill>
                  <a:srgbClr val="087F83"/>
                </a:solidFill>
                <a:latin typeface="Times New Roman"/>
                <a:ea typeface="Times New Roman"/>
                <a:cs typeface="Times New Roman"/>
              </a:defRPr>
            </a:pPr>
            <a:r>
              <a:rPr sz="3450" b="0">
                <a:solidFill>
                  <a:srgbClr val="087F83"/>
                </a:solidFill>
                <a:latin typeface="Times New Roman"/>
                <a:ea typeface="Times New Roman"/>
                <a:cs typeface="Times New Roman"/>
              </a:rPr>
              <a:t>(z) = a</a:t>
            </a:r>
          </a:p>
        </p:txBody>
      </p:sp>
      <p:sp>
        <p:nvSpPr>
          <p:cNvPr id="9" name="">
            <a:extLst xmlns:a="http://schemas.openxmlformats.org/drawingml/2006/main">
              <a:ext uri="{FF2B5EF4-FFF2-40B4-BE49-F238E27FC236}">
                <a16:creationId xmlns:a16="http://schemas.microsoft.com/office/drawing/2014/main" id="{FA3AD2D1-1762-460A-9095-599E93D89098}"/>
              </a:ext>
            </a:extLst>
          </p:cNvPr>
          <p:cNvSpPr>
            <a:spLocks xmlns:a="http://schemas.openxmlformats.org/drawingml/2006/main" noGrp="1"/>
          </p:cNvSpPr>
          <p:nvPr/>
        </p:nvSpPr>
        <p:spPr>
          <a:xfrm xmlns:a="http://schemas.openxmlformats.org/drawingml/2006/main">
            <a:off x="666750" y="42957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52C40"/>
                </a:solidFill>
                <a:latin typeface="Arial"/>
                <a:ea typeface="Arial"/>
                <a:cs typeface="Arial"/>
              </a:defRPr>
            </a:pPr>
            <a:r>
              <a:rPr sz="2025" b="0">
                <a:solidFill>
                  <a:srgbClr val="152C40"/>
                </a:solidFill>
                <a:latin typeface="Arial"/>
                <a:ea typeface="Arial"/>
                <a:cs typeface="Arial"/>
              </a:rPr>
              <a:t>Esta igualdad salarial corresponde a usuarios activos de IA.</a:t>
            </a:r>
          </a:p>
        </p:txBody>
      </p:sp>
      <p:sp>
        <p:nvSpPr>
          <p:cNvPr id="10" name="">
            <a:extLst xmlns:a="http://schemas.openxmlformats.org/drawingml/2006/main">
              <a:ext uri="{FF2B5EF4-FFF2-40B4-BE49-F238E27FC236}">
                <a16:creationId xmlns:a16="http://schemas.microsoft.com/office/drawing/2014/main" id="{E4244423-6548-4859-89BC-8A1AE30F5211}"/>
              </a:ext>
            </a:extLst>
          </p:cNvPr>
          <p:cNvSpPr>
            <a:spLocks xmlns:a="http://schemas.openxmlformats.org/drawingml/2006/main" noGrp="1"/>
          </p:cNvSpPr>
          <p:nvPr/>
        </p:nvSpPr>
        <p:spPr>
          <a:xfrm xmlns:a="http://schemas.openxmlformats.org/drawingml/2006/main">
            <a:off x="666750" y="514350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La extensión agrega una fricción de validación.</a:t>
            </a:r>
          </a:p>
        </p:txBody>
      </p:sp>
    </p:spTree>
    <p:extLst>
      <p:ext uri="{BB962C8B-B14F-4D97-AF65-F5344CB8AC3E}">
        <p14:creationId xmlns:p14="http://schemas.microsoft.com/office/powerpoint/2010/main" val="152396983"/>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D420AE-78EB-4EA9-9879-1E3F277A65F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Costo de verificación heterogéneo</a:t>
            </a:r>
          </a:p>
        </p:txBody>
      </p:sp>
      <p:sp>
        <p:nvSpPr>
          <p:cNvPr id="2" name="">
            <a:extLst xmlns:a="http://schemas.openxmlformats.org/drawingml/2006/main">
              <a:ext uri="{FF2B5EF4-FFF2-40B4-BE49-F238E27FC236}">
                <a16:creationId xmlns:a16="http://schemas.microsoft.com/office/drawing/2014/main" id="{121A7226-61F0-4ADE-B47F-8D18A06229E8}"/>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ACE8C555-9369-4E47-A6EA-F838D2D7EDEE}"/>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Especificación propia. Antecedente de costo constante: repositorio, extensions.md, sección 8</a:t>
            </a:r>
          </a:p>
        </p:txBody>
      </p:sp>
      <p:sp>
        <p:nvSpPr>
          <p:cNvPr id="4" name="">
            <a:extLst xmlns:a="http://schemas.openxmlformats.org/drawingml/2006/main">
              <a:ext uri="{FF2B5EF4-FFF2-40B4-BE49-F238E27FC236}">
                <a16:creationId xmlns:a16="http://schemas.microsoft.com/office/drawing/2014/main" id="{31812A43-1636-4529-A51F-45B566C6C1DD}"/>
              </a:ext>
            </a:extLst>
          </p:cNvPr>
          <p:cNvSpPr>
            <a:spLocks xmlns:a="http://schemas.openxmlformats.org/drawingml/2006/main" noGrp="1"/>
          </p:cNvSpPr>
          <p:nvPr/>
        </p:nvSpPr>
        <p:spPr>
          <a:xfrm xmlns:a="http://schemas.openxmlformats.org/drawingml/2006/main">
            <a:off x="3959019" y="1666875"/>
            <a:ext cx="4350163" cy="662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00" b="0">
                <a:solidFill>
                  <a:srgbClr val="087F83"/>
                </a:solidFill>
                <a:latin typeface="Times New Roman"/>
                <a:ea typeface="Times New Roman"/>
                <a:cs typeface="Times New Roman"/>
              </a:defRPr>
            </a:pPr>
            <a:r>
              <a:rPr sz="3600" b="0">
                <a:solidFill>
                  <a:srgbClr val="087F83"/>
                </a:solidFill>
                <a:latin typeface="Times New Roman"/>
                <a:ea typeface="Times New Roman"/>
                <a:cs typeface="Times New Roman"/>
              </a:rPr>
              <a:t>c(z) = κ(1 − z),     κ ≥ 0</a:t>
            </a:r>
          </a:p>
        </p:txBody>
      </p:sp>
      <p:sp>
        <p:nvSpPr>
          <p:cNvPr id="5" name="">
            <a:extLst xmlns:a="http://schemas.openxmlformats.org/drawingml/2006/main">
              <a:ext uri="{FF2B5EF4-FFF2-40B4-BE49-F238E27FC236}">
                <a16:creationId xmlns:a16="http://schemas.microsoft.com/office/drawing/2014/main" id="{AEDC805C-B9E4-48FE-B150-4E38179BD34B}"/>
              </a:ext>
            </a:extLst>
          </p:cNvPr>
          <p:cNvSpPr>
            <a:spLocks xmlns:a="http://schemas.openxmlformats.org/drawingml/2006/main" noGrp="1"/>
          </p:cNvSpPr>
          <p:nvPr/>
        </p:nvSpPr>
        <p:spPr>
          <a:xfrm xmlns:a="http://schemas.openxmlformats.org/drawingml/2006/main">
            <a:off x="666750" y="271462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Mayor conocimiento implica menor costo de validación.</a:t>
            </a:r>
          </a:p>
        </p:txBody>
      </p:sp>
      <p:graphicFrame>
        <p:nvGraphicFramePr>
          <p:cNvPr id="12" name=""/>
          <p:cNvGraphicFramePr/>
          <p:nvPr/>
        </p:nvGraphicFramePr>
        <p:xfrm>
          <a:off xmlns:a="http://schemas.openxmlformats.org/drawingml/2006/main" x="666750" y="3714750"/>
          <a:ext xmlns:a="http://schemas.openxmlformats.org/drawingml/2006/main" cx="10839450" cy="1847850"/>
        </p:xfrm>
        <a:graphic xmlns:a="http://schemas.openxmlformats.org/drawingml/2006/main">
          <a:graphicData uri="http://schemas.openxmlformats.org/drawingml/2006/table">
            <a:tbl>
              <a:tblPr/>
              <a:tblGrid>
                <a:gridCol w="5419725"/>
                <a:gridCol w="5419725"/>
              </a:tblGrid>
              <a:tr h="615950">
                <a:tc>
                  <a:txBody>
                    <a:bodyPr/>
                    <a:lstStyle/>
                    <a:p>
                      <a:pPr algn="l"/>
                      <a:r>
                        <a:rPr sz="1875" b="1">
                          <a:solidFill>
                            <a:srgbClr val="FFFFFF"/>
                          </a:solidFill>
                          <a:latin typeface="Arial"/>
                          <a:ea typeface="Arial"/>
                          <a:cs typeface="Arial"/>
                        </a:rPr>
                        <a:t>Se mantiene</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Se agrega</a:t>
                      </a:r>
                    </a:p>
                  </a:txBody>
                  <a:tcPr marL="91440" marR="91440" marT="45720" marB="45720">
                    <a:solidFill>
                      <a:srgbClr val="152C40"/>
                    </a:solidFill>
                  </a:tcPr>
                </a:tc>
              </a:tr>
              <a:tr h="615950">
                <a:tc>
                  <a:txBody>
                    <a:bodyPr/>
                    <a:lstStyle/>
                    <a:p>
                      <a:pPr algn="l"/>
                      <a:r>
                        <a:rPr sz="1875" b="0">
                          <a:solidFill>
                            <a:srgbClr val="152C40"/>
                          </a:solidFill>
                          <a:latin typeface="Arial"/>
                          <a:ea typeface="Arial"/>
                          <a:cs typeface="Arial"/>
                        </a:rPr>
                        <a:t>Capacidad a y tamaño n(z)</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Costo real por trabajador</a:t>
                      </a:r>
                    </a:p>
                  </a:txBody>
                  <a:tcPr marL="91440" marR="91440" marT="45720" marB="45720">
                    <a:solidFill>
                      <a:srgbClr val="FFFFFF"/>
                    </a:solidFill>
                  </a:tcPr>
                </a:tc>
              </a:tr>
              <a:tr h="615950">
                <a:tc>
                  <a:txBody>
                    <a:bodyPr/>
                    <a:lstStyle/>
                    <a:p>
                      <a:pPr algn="l"/>
                      <a:r>
                        <a:rPr sz="1875" b="0">
                          <a:solidFill>
                            <a:srgbClr val="152C40"/>
                          </a:solidFill>
                          <a:latin typeface="Arial"/>
                          <a:ea typeface="Arial"/>
                          <a:cs typeface="Arial"/>
                        </a:rPr>
                        <a:t>Dos niveles y competencia</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Pendiente c′(z) ≤ 0</a:t>
                      </a:r>
                    </a:p>
                  </a:txBody>
                  <a:tcPr marL="91440" marR="91440" marT="45720" marB="45720">
                    <a:solidFill>
                      <a:srgbClr val="EDF3F2"/>
                    </a:solidFill>
                  </a:tcPr>
                </a:tc>
              </a:tr>
            </a:tbl>
          </a:graphicData>
        </a:graphic>
      </p:graphicFrame>
    </p:spTree>
    <p:extLst>
      <p:ext uri="{BB962C8B-B14F-4D97-AF65-F5344CB8AC3E}">
        <p14:creationId xmlns:p14="http://schemas.microsoft.com/office/powerpoint/2010/main" val="1612615249"/>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BB8917B-0F7F-44AE-B113-2569021B582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Problema de la firma</a:t>
            </a:r>
          </a:p>
        </p:txBody>
      </p:sp>
      <p:sp>
        <p:nvSpPr>
          <p:cNvPr id="2" name="">
            <a:extLst xmlns:a="http://schemas.openxmlformats.org/drawingml/2006/main">
              <a:ext uri="{FF2B5EF4-FFF2-40B4-BE49-F238E27FC236}">
                <a16:creationId xmlns:a16="http://schemas.microsoft.com/office/drawing/2014/main" id="{0D8B00F8-A24B-4498-8645-261878D47AC0}"/>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E10F8B8F-66B1-49B6-B5BE-A2C35C09AF03}"/>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Problema propio a partir de la tecnología de firma humano–IA de Ide y Talamàs, §3.1</a:t>
            </a:r>
          </a:p>
        </p:txBody>
      </p:sp>
      <p:sp>
        <p:nvSpPr>
          <p:cNvPr id="4" name="">
            <a:extLst xmlns:a="http://schemas.openxmlformats.org/drawingml/2006/main">
              <a:ext uri="{FF2B5EF4-FFF2-40B4-BE49-F238E27FC236}">
                <a16:creationId xmlns:a16="http://schemas.microsoft.com/office/drawing/2014/main" id="{0B9FCE27-B5A9-4FA4-AA61-8AC6EE2E0EDA}"/>
              </a:ext>
            </a:extLst>
          </p:cNvPr>
          <p:cNvSpPr>
            <a:spLocks xmlns:a="http://schemas.openxmlformats.org/drawingml/2006/main" noGrp="1"/>
          </p:cNvSpPr>
          <p:nvPr/>
        </p:nvSpPr>
        <p:spPr>
          <a:xfrm xmlns:a="http://schemas.openxmlformats.org/drawingml/2006/main">
            <a:off x="2780062" y="1798715"/>
            <a:ext cx="71580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max</a:t>
            </a:r>
          </a:p>
        </p:txBody>
      </p:sp>
      <p:sp>
        <p:nvSpPr>
          <p:cNvPr id="5" name="">
            <a:extLst xmlns:a="http://schemas.openxmlformats.org/drawingml/2006/main">
              <a:ext uri="{FF2B5EF4-FFF2-40B4-BE49-F238E27FC236}">
                <a16:creationId xmlns:a16="http://schemas.microsoft.com/office/drawing/2014/main" id="{5C8C8FE1-4B93-4F6C-B291-9B779DE196C3}"/>
              </a:ext>
            </a:extLst>
          </p:cNvPr>
          <p:cNvSpPr>
            <a:spLocks xmlns:a="http://schemas.openxmlformats.org/drawingml/2006/main" noGrp="1"/>
          </p:cNvSpPr>
          <p:nvPr/>
        </p:nvSpPr>
        <p:spPr>
          <a:xfrm xmlns:a="http://schemas.openxmlformats.org/drawingml/2006/main">
            <a:off x="3419666" y="2033302"/>
            <a:ext cx="891635" cy="339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43" b="0">
                <a:solidFill>
                  <a:srgbClr val="152C40"/>
                </a:solidFill>
                <a:latin typeface="Times New Roman"/>
                <a:ea typeface="Times New Roman"/>
                <a:cs typeface="Times New Roman"/>
              </a:defRPr>
            </a:pPr>
            <a:r>
              <a:rPr sz="1843" b="0">
                <a:solidFill>
                  <a:srgbClr val="152C40"/>
                </a:solidFill>
                <a:latin typeface="Times New Roman"/>
                <a:ea typeface="Times New Roman"/>
                <a:cs typeface="Times New Roman"/>
              </a:rPr>
              <a:t>0 ≤ z ≤ a</a:t>
            </a:r>
          </a:p>
        </p:txBody>
      </p:sp>
      <p:sp>
        <p:nvSpPr>
          <p:cNvPr id="6" name="">
            <a:extLst xmlns:a="http://schemas.openxmlformats.org/drawingml/2006/main">
              <a:ext uri="{FF2B5EF4-FFF2-40B4-BE49-F238E27FC236}">
                <a16:creationId xmlns:a16="http://schemas.microsoft.com/office/drawing/2014/main" id="{205CFAF2-64FF-4061-826A-064AD4BA7F74}"/>
              </a:ext>
            </a:extLst>
          </p:cNvPr>
          <p:cNvSpPr>
            <a:spLocks xmlns:a="http://schemas.openxmlformats.org/drawingml/2006/main" noGrp="1"/>
          </p:cNvSpPr>
          <p:nvPr/>
        </p:nvSpPr>
        <p:spPr>
          <a:xfrm xmlns:a="http://schemas.openxmlformats.org/drawingml/2006/main">
            <a:off x="4235101" y="1798715"/>
            <a:ext cx="261938"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  </a:t>
            </a:r>
          </a:p>
        </p:txBody>
      </p:sp>
      <p:sp>
        <p:nvSpPr>
          <p:cNvPr id="7" name="">
            <a:extLst xmlns:a="http://schemas.openxmlformats.org/drawingml/2006/main">
              <a:ext uri="{FF2B5EF4-FFF2-40B4-BE49-F238E27FC236}">
                <a16:creationId xmlns:a16="http://schemas.microsoft.com/office/drawing/2014/main" id="{6CC2EB94-8CA1-4B24-9F6B-4B1BBB429072}"/>
              </a:ext>
            </a:extLst>
          </p:cNvPr>
          <p:cNvSpPr>
            <a:spLocks xmlns:a="http://schemas.openxmlformats.org/drawingml/2006/main" noGrp="1"/>
          </p:cNvSpPr>
          <p:nvPr/>
        </p:nvSpPr>
        <p:spPr>
          <a:xfrm xmlns:a="http://schemas.openxmlformats.org/drawingml/2006/main">
            <a:off x="4420838" y="1798715"/>
            <a:ext cx="34442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Π</a:t>
            </a:r>
          </a:p>
        </p:txBody>
      </p:sp>
      <p:sp>
        <p:nvSpPr>
          <p:cNvPr id="8" name="">
            <a:extLst xmlns:a="http://schemas.openxmlformats.org/drawingml/2006/main">
              <a:ext uri="{FF2B5EF4-FFF2-40B4-BE49-F238E27FC236}">
                <a16:creationId xmlns:a16="http://schemas.microsoft.com/office/drawing/2014/main" id="{EDD11DE6-A370-4D62-A975-A74F74D564D5}"/>
              </a:ext>
            </a:extLst>
          </p:cNvPr>
          <p:cNvSpPr>
            <a:spLocks xmlns:a="http://schemas.openxmlformats.org/drawingml/2006/main" noGrp="1"/>
          </p:cNvSpPr>
          <p:nvPr/>
        </p:nvSpPr>
        <p:spPr>
          <a:xfrm xmlns:a="http://schemas.openxmlformats.org/drawingml/2006/main">
            <a:off x="4689062" y="1762125"/>
            <a:ext cx="245173" cy="339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43" b="0">
                <a:solidFill>
                  <a:srgbClr val="152C40"/>
                </a:solidFill>
                <a:latin typeface="Times New Roman"/>
                <a:ea typeface="Times New Roman"/>
                <a:cs typeface="Times New Roman"/>
              </a:defRPr>
            </a:pPr>
            <a:r>
              <a:rPr sz="1843" b="0">
                <a:solidFill>
                  <a:srgbClr val="152C40"/>
                </a:solidFill>
                <a:latin typeface="Times New Roman"/>
                <a:ea typeface="Times New Roman"/>
                <a:cs typeface="Times New Roman"/>
              </a:rPr>
              <a:t>V</a:t>
            </a:r>
          </a:p>
        </p:txBody>
      </p:sp>
      <p:sp>
        <p:nvSpPr>
          <p:cNvPr id="9" name="">
            <a:extLst xmlns:a="http://schemas.openxmlformats.org/drawingml/2006/main">
              <a:ext uri="{FF2B5EF4-FFF2-40B4-BE49-F238E27FC236}">
                <a16:creationId xmlns:a16="http://schemas.microsoft.com/office/drawing/2014/main" id="{4452ABA7-AF1A-4ABC-B153-AF62453C765A}"/>
              </a:ext>
            </a:extLst>
          </p:cNvPr>
          <p:cNvSpPr>
            <a:spLocks xmlns:a="http://schemas.openxmlformats.org/drawingml/2006/main" noGrp="1"/>
          </p:cNvSpPr>
          <p:nvPr/>
        </p:nvSpPr>
        <p:spPr>
          <a:xfrm xmlns:a="http://schemas.openxmlformats.org/drawingml/2006/main">
            <a:off x="4858036" y="1798715"/>
            <a:ext cx="216560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(z) = n(z)[a − </a:t>
            </a:r>
          </a:p>
        </p:txBody>
      </p:sp>
      <p:sp>
        <p:nvSpPr>
          <p:cNvPr id="10" name="">
            <a:extLst xmlns:a="http://schemas.openxmlformats.org/drawingml/2006/main">
              <a:ext uri="{FF2B5EF4-FFF2-40B4-BE49-F238E27FC236}">
                <a16:creationId xmlns:a16="http://schemas.microsoft.com/office/drawing/2014/main" id="{0B689980-494C-476C-98A8-3891D8165AF4}"/>
              </a:ext>
            </a:extLst>
          </p:cNvPr>
          <p:cNvSpPr>
            <a:spLocks xmlns:a="http://schemas.openxmlformats.org/drawingml/2006/main" noGrp="1"/>
          </p:cNvSpPr>
          <p:nvPr/>
        </p:nvSpPr>
        <p:spPr>
          <a:xfrm xmlns:a="http://schemas.openxmlformats.org/drawingml/2006/main">
            <a:off x="6947440" y="1798715"/>
            <a:ext cx="34442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w</a:t>
            </a:r>
          </a:p>
        </p:txBody>
      </p:sp>
      <p:sp>
        <p:nvSpPr>
          <p:cNvPr id="11" name="">
            <a:extLst xmlns:a="http://schemas.openxmlformats.org/drawingml/2006/main">
              <a:ext uri="{FF2B5EF4-FFF2-40B4-BE49-F238E27FC236}">
                <a16:creationId xmlns:a16="http://schemas.microsoft.com/office/drawing/2014/main" id="{5DFA8E5C-4956-46A8-AC8E-B4147B47397D}"/>
              </a:ext>
            </a:extLst>
          </p:cNvPr>
          <p:cNvSpPr>
            <a:spLocks xmlns:a="http://schemas.openxmlformats.org/drawingml/2006/main" noGrp="1"/>
          </p:cNvSpPr>
          <p:nvPr/>
        </p:nvSpPr>
        <p:spPr>
          <a:xfrm xmlns:a="http://schemas.openxmlformats.org/drawingml/2006/main">
            <a:off x="7215664" y="1762125"/>
            <a:ext cx="245173" cy="339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43" b="0">
                <a:solidFill>
                  <a:srgbClr val="152C40"/>
                </a:solidFill>
                <a:latin typeface="Times New Roman"/>
                <a:ea typeface="Times New Roman"/>
                <a:cs typeface="Times New Roman"/>
              </a:defRPr>
            </a:pPr>
            <a:r>
              <a:rPr sz="1843" b="0">
                <a:solidFill>
                  <a:srgbClr val="152C40"/>
                </a:solidFill>
                <a:latin typeface="Times New Roman"/>
                <a:ea typeface="Times New Roman"/>
                <a:cs typeface="Times New Roman"/>
              </a:rPr>
              <a:t>V</a:t>
            </a:r>
          </a:p>
        </p:txBody>
      </p:sp>
      <p:sp>
        <p:nvSpPr>
          <p:cNvPr id="12" name="">
            <a:extLst xmlns:a="http://schemas.openxmlformats.org/drawingml/2006/main">
              <a:ext uri="{FF2B5EF4-FFF2-40B4-BE49-F238E27FC236}">
                <a16:creationId xmlns:a16="http://schemas.microsoft.com/office/drawing/2014/main" id="{1631CAC9-4572-46C6-B142-1901946625D5}"/>
              </a:ext>
            </a:extLst>
          </p:cNvPr>
          <p:cNvSpPr>
            <a:spLocks xmlns:a="http://schemas.openxmlformats.org/drawingml/2006/main" noGrp="1"/>
          </p:cNvSpPr>
          <p:nvPr/>
        </p:nvSpPr>
        <p:spPr>
          <a:xfrm xmlns:a="http://schemas.openxmlformats.org/drawingml/2006/main">
            <a:off x="7384637" y="1798715"/>
            <a:ext cx="2103501"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(z) − c(z)] − r</a:t>
            </a:r>
          </a:p>
        </p:txBody>
      </p:sp>
      <p:graphicFrame>
        <p:nvGraphicFramePr>
          <p:cNvPr id="27" name=""/>
          <p:cNvGraphicFramePr/>
          <p:nvPr/>
        </p:nvGraphicFramePr>
        <p:xfrm>
          <a:off xmlns:a="http://schemas.openxmlformats.org/drawingml/2006/main" x="666750" y="3381375"/>
          <a:ext xmlns:a="http://schemas.openxmlformats.org/drawingml/2006/main" cx="10839450" cy="1428750"/>
        </p:xfrm>
        <a:graphic xmlns:a="http://schemas.openxmlformats.org/drawingml/2006/main">
          <a:graphicData uri="http://schemas.openxmlformats.org/drawingml/2006/table">
            <a:tbl>
              <a:tblPr/>
              <a:tblGrid>
                <a:gridCol w="2705100"/>
                <a:gridCol w="2714625"/>
                <a:gridCol w="2705100"/>
                <a:gridCol w="2714625"/>
              </a:tblGrid>
              <a:tr h="714375">
                <a:tc>
                  <a:txBody>
                    <a:bodyPr/>
                    <a:lstStyle/>
                    <a:p>
                      <a:pPr algn="l"/>
                      <a:r>
                        <a:rPr sz="1875" b="1">
                          <a:solidFill>
                            <a:srgbClr val="FFFFFF"/>
                          </a:solidFill>
                          <a:latin typeface="Arial"/>
                          <a:ea typeface="Arial"/>
                          <a:cs typeface="Arial"/>
                        </a:rPr>
                        <a:t>Ingreso esperado</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Costo laboral</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Validación</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Cómputo</a:t>
                      </a:r>
                    </a:p>
                  </a:txBody>
                  <a:tcPr marL="91440" marR="91440" marT="45720" marB="45720">
                    <a:solidFill>
                      <a:srgbClr val="152C40"/>
                    </a:solidFill>
                  </a:tcPr>
                </a:tc>
              </a:tr>
              <a:tr h="714375">
                <a:tc>
                  <a:txBody>
                    <a:bodyPr/>
                    <a:lstStyle/>
                    <a:p>
                      <a:pPr algn="l"/>
                      <a:r>
                        <a:rPr sz="1875" b="0">
                          <a:solidFill>
                            <a:srgbClr val="152C40"/>
                          </a:solidFill>
                          <a:latin typeface="Arial"/>
                          <a:ea typeface="Arial"/>
                          <a:cs typeface="Arial"/>
                        </a:rPr>
                        <a:t>n(z)a</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n(z)wⱽ(z)</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n(z)c(z)</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r</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64EEEADC-4BEE-444E-9D67-AD9B4DD81AEB}"/>
              </a:ext>
            </a:extLst>
          </p:cNvPr>
          <p:cNvSpPr>
            <a:spLocks xmlns:a="http://schemas.openxmlformats.org/drawingml/2006/main" noGrp="1"/>
          </p:cNvSpPr>
          <p:nvPr/>
        </p:nvSpPr>
        <p:spPr>
          <a:xfrm xmlns:a="http://schemas.openxmlformats.org/drawingml/2006/main">
            <a:off x="666750" y="51530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Elección: tipo contratado z.</a:t>
            </a:r>
          </a:p>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Condición de una firma activa: beneficio cero.</a:t>
            </a:r>
          </a:p>
        </p:txBody>
      </p:sp>
    </p:spTree>
    <p:extLst>
      <p:ext uri="{BB962C8B-B14F-4D97-AF65-F5344CB8AC3E}">
        <p14:creationId xmlns:p14="http://schemas.microsoft.com/office/powerpoint/2010/main" val="806242225"/>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43A4461-895C-4A8A-9FAE-F729D2E450F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Condición de primer orden</a:t>
            </a:r>
          </a:p>
        </p:txBody>
      </p:sp>
      <p:sp>
        <p:nvSpPr>
          <p:cNvPr id="2" name="">
            <a:extLst xmlns:a="http://schemas.openxmlformats.org/drawingml/2006/main">
              <a:ext uri="{FF2B5EF4-FFF2-40B4-BE49-F238E27FC236}">
                <a16:creationId xmlns:a16="http://schemas.microsoft.com/office/drawing/2014/main" id="{5F57DFC7-4CD5-46D7-9D07-61533128BBDF}"/>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5C45C7F7-712B-49E3-840D-118ED83326C9}"/>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Derivación propia. La fórmula n(z) proviene de Ide y Talamàs (2025), §3.1</a:t>
            </a:r>
          </a:p>
        </p:txBody>
      </p:sp>
      <p:sp>
        <p:nvSpPr>
          <p:cNvPr id="4" name="">
            <a:extLst xmlns:a="http://schemas.openxmlformats.org/drawingml/2006/main">
              <a:ext uri="{FF2B5EF4-FFF2-40B4-BE49-F238E27FC236}">
                <a16:creationId xmlns:a16="http://schemas.microsoft.com/office/drawing/2014/main" id="{76C69620-679B-40C8-94C1-65B2D6FE4205}"/>
              </a:ext>
            </a:extLst>
          </p:cNvPr>
          <p:cNvSpPr>
            <a:spLocks xmlns:a="http://schemas.openxmlformats.org/drawingml/2006/main" noGrp="1"/>
          </p:cNvSpPr>
          <p:nvPr/>
        </p:nvSpPr>
        <p:spPr>
          <a:xfrm xmlns:a="http://schemas.openxmlformats.org/drawingml/2006/main">
            <a:off x="2903411" y="1680662"/>
            <a:ext cx="1299496"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n′(z)[a − </a:t>
            </a:r>
          </a:p>
        </p:txBody>
      </p:sp>
      <p:sp>
        <p:nvSpPr>
          <p:cNvPr id="5" name="">
            <a:extLst xmlns:a="http://schemas.openxmlformats.org/drawingml/2006/main">
              <a:ext uri="{FF2B5EF4-FFF2-40B4-BE49-F238E27FC236}">
                <a16:creationId xmlns:a16="http://schemas.microsoft.com/office/drawing/2014/main" id="{0F726041-C9BC-4527-BE25-156C2C4D6969}"/>
              </a:ext>
            </a:extLst>
          </p:cNvPr>
          <p:cNvSpPr>
            <a:spLocks xmlns:a="http://schemas.openxmlformats.org/drawingml/2006/main" noGrp="1"/>
          </p:cNvSpPr>
          <p:nvPr/>
        </p:nvSpPr>
        <p:spPr>
          <a:xfrm xmlns:a="http://schemas.openxmlformats.org/drawingml/2006/main">
            <a:off x="4126706" y="1680662"/>
            <a:ext cx="316992"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w</a:t>
            </a:r>
          </a:p>
        </p:txBody>
      </p:sp>
      <p:sp>
        <p:nvSpPr>
          <p:cNvPr id="6" name="">
            <a:extLst xmlns:a="http://schemas.openxmlformats.org/drawingml/2006/main">
              <a:ext uri="{FF2B5EF4-FFF2-40B4-BE49-F238E27FC236}">
                <a16:creationId xmlns:a16="http://schemas.microsoft.com/office/drawing/2014/main" id="{12E2C6C2-A1AC-418C-BE41-F2C4A5AA5847}"/>
              </a:ext>
            </a:extLst>
          </p:cNvPr>
          <p:cNvSpPr>
            <a:spLocks xmlns:a="http://schemas.openxmlformats.org/drawingml/2006/main" noGrp="1"/>
          </p:cNvSpPr>
          <p:nvPr/>
        </p:nvSpPr>
        <p:spPr>
          <a:xfrm xmlns:a="http://schemas.openxmlformats.org/drawingml/2006/main">
            <a:off x="4367498" y="1647825"/>
            <a:ext cx="227838" cy="304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4" b="0">
                <a:solidFill>
                  <a:srgbClr val="152C40"/>
                </a:solidFill>
                <a:latin typeface="Times New Roman"/>
                <a:ea typeface="Times New Roman"/>
                <a:cs typeface="Times New Roman"/>
              </a:defRPr>
            </a:pPr>
            <a:r>
              <a:rPr sz="1654" b="0">
                <a:solidFill>
                  <a:srgbClr val="152C40"/>
                </a:solidFill>
                <a:latin typeface="Times New Roman"/>
                <a:ea typeface="Times New Roman"/>
                <a:cs typeface="Times New Roman"/>
              </a:rPr>
              <a:t>V</a:t>
            </a:r>
          </a:p>
        </p:txBody>
      </p:sp>
      <p:sp>
        <p:nvSpPr>
          <p:cNvPr id="7" name="">
            <a:extLst xmlns:a="http://schemas.openxmlformats.org/drawingml/2006/main">
              <a:ext uri="{FF2B5EF4-FFF2-40B4-BE49-F238E27FC236}">
                <a16:creationId xmlns:a16="http://schemas.microsoft.com/office/drawing/2014/main" id="{38DD7985-0ACD-4685-8B39-554478CAF9EB}"/>
              </a:ext>
            </a:extLst>
          </p:cNvPr>
          <p:cNvSpPr>
            <a:spLocks xmlns:a="http://schemas.openxmlformats.org/drawingml/2006/main" noGrp="1"/>
          </p:cNvSpPr>
          <p:nvPr/>
        </p:nvSpPr>
        <p:spPr>
          <a:xfrm xmlns:a="http://schemas.openxmlformats.org/drawingml/2006/main">
            <a:off x="4519136" y="1680662"/>
            <a:ext cx="2432304"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(z) − c(z)] − n(z)[</a:t>
            </a:r>
          </a:p>
        </p:txBody>
      </p:sp>
      <p:sp>
        <p:nvSpPr>
          <p:cNvPr id="8" name="">
            <a:extLst xmlns:a="http://schemas.openxmlformats.org/drawingml/2006/main">
              <a:ext uri="{FF2B5EF4-FFF2-40B4-BE49-F238E27FC236}">
                <a16:creationId xmlns:a16="http://schemas.microsoft.com/office/drawing/2014/main" id="{44BD9D03-92F4-43E2-B7CA-F5803AD33F77}"/>
              </a:ext>
            </a:extLst>
          </p:cNvPr>
          <p:cNvSpPr>
            <a:spLocks xmlns:a="http://schemas.openxmlformats.org/drawingml/2006/main" noGrp="1"/>
          </p:cNvSpPr>
          <p:nvPr/>
        </p:nvSpPr>
        <p:spPr>
          <a:xfrm xmlns:a="http://schemas.openxmlformats.org/drawingml/2006/main">
            <a:off x="6875240" y="1680662"/>
            <a:ext cx="316992"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w</a:t>
            </a:r>
          </a:p>
        </p:txBody>
      </p:sp>
      <p:sp>
        <p:nvSpPr>
          <p:cNvPr id="9" name="">
            <a:extLst xmlns:a="http://schemas.openxmlformats.org/drawingml/2006/main">
              <a:ext uri="{FF2B5EF4-FFF2-40B4-BE49-F238E27FC236}">
                <a16:creationId xmlns:a16="http://schemas.microsoft.com/office/drawing/2014/main" id="{91299535-5F41-44A4-B68A-E10A12D5FE9C}"/>
              </a:ext>
            </a:extLst>
          </p:cNvPr>
          <p:cNvSpPr>
            <a:spLocks xmlns:a="http://schemas.openxmlformats.org/drawingml/2006/main" noGrp="1"/>
          </p:cNvSpPr>
          <p:nvPr/>
        </p:nvSpPr>
        <p:spPr>
          <a:xfrm xmlns:a="http://schemas.openxmlformats.org/drawingml/2006/main">
            <a:off x="7116032" y="1647825"/>
            <a:ext cx="227838" cy="304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4" b="0">
                <a:solidFill>
                  <a:srgbClr val="152C40"/>
                </a:solidFill>
                <a:latin typeface="Times New Roman"/>
                <a:ea typeface="Times New Roman"/>
                <a:cs typeface="Times New Roman"/>
              </a:defRPr>
            </a:pPr>
            <a:r>
              <a:rPr sz="1654" b="0">
                <a:solidFill>
                  <a:srgbClr val="152C40"/>
                </a:solidFill>
                <a:latin typeface="Times New Roman"/>
                <a:ea typeface="Times New Roman"/>
                <a:cs typeface="Times New Roman"/>
              </a:rPr>
              <a:t>V</a:t>
            </a:r>
          </a:p>
        </p:txBody>
      </p:sp>
      <p:sp>
        <p:nvSpPr>
          <p:cNvPr id="10" name="">
            <a:extLst xmlns:a="http://schemas.openxmlformats.org/drawingml/2006/main">
              <a:ext uri="{FF2B5EF4-FFF2-40B4-BE49-F238E27FC236}">
                <a16:creationId xmlns:a16="http://schemas.microsoft.com/office/drawing/2014/main" id="{EF242AC0-B777-4369-A78C-26781EAE776E}"/>
              </a:ext>
            </a:extLst>
          </p:cNvPr>
          <p:cNvSpPr>
            <a:spLocks xmlns:a="http://schemas.openxmlformats.org/drawingml/2006/main" noGrp="1"/>
          </p:cNvSpPr>
          <p:nvPr/>
        </p:nvSpPr>
        <p:spPr>
          <a:xfrm xmlns:a="http://schemas.openxmlformats.org/drawingml/2006/main">
            <a:off x="7267670" y="1680662"/>
            <a:ext cx="2097119"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′(z) + c′(z)] = 0</a:t>
            </a:r>
          </a:p>
        </p:txBody>
      </p:sp>
      <p:sp>
        <p:nvSpPr>
          <p:cNvPr id="11" name="">
            <a:extLst xmlns:a="http://schemas.openxmlformats.org/drawingml/2006/main">
              <a:ext uri="{FF2B5EF4-FFF2-40B4-BE49-F238E27FC236}">
                <a16:creationId xmlns:a16="http://schemas.microsoft.com/office/drawing/2014/main" id="{19138677-648B-4DE1-93B1-45B147B9D2BE}"/>
              </a:ext>
            </a:extLst>
          </p:cNvPr>
          <p:cNvSpPr>
            <a:spLocks xmlns:a="http://schemas.openxmlformats.org/drawingml/2006/main" noGrp="1"/>
          </p:cNvSpPr>
          <p:nvPr/>
        </p:nvSpPr>
        <p:spPr>
          <a:xfrm xmlns:a="http://schemas.openxmlformats.org/drawingml/2006/main">
            <a:off x="666750" y="26670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52C40"/>
                </a:solidFill>
                <a:latin typeface="Arial"/>
                <a:ea typeface="Arial"/>
                <a:cs typeface="Arial"/>
              </a:defRPr>
            </a:pPr>
            <a:r>
              <a:rPr sz="2025" b="0">
                <a:solidFill>
                  <a:srgbClr val="152C40"/>
                </a:solidFill>
                <a:latin typeface="Arial"/>
                <a:ea typeface="Arial"/>
                <a:cs typeface="Arial"/>
              </a:rPr>
              <a:t>Regla del producto: cambia el tamaño del equipo</a:t>
            </a:r>
          </a:p>
          <a:p xmlns:a="http://schemas.openxmlformats.org/drawingml/2006/main">
            <a:pPr>
              <a:defRPr sz="2025" b="0">
                <a:solidFill>
                  <a:srgbClr val="152C40"/>
                </a:solidFill>
                <a:latin typeface="Arial"/>
                <a:ea typeface="Arial"/>
                <a:cs typeface="Arial"/>
              </a:defRPr>
            </a:pPr>
            <a:r>
              <a:rPr sz="2025" b="0">
                <a:solidFill>
                  <a:srgbClr val="152C40"/>
                </a:solidFill>
                <a:latin typeface="Arial"/>
                <a:ea typeface="Arial"/>
                <a:cs typeface="Arial"/>
              </a:rPr>
              <a:t>y cambia el margen por trabajador.</a:t>
            </a:r>
          </a:p>
        </p:txBody>
      </p:sp>
      <p:sp>
        <p:nvSpPr>
          <p:cNvPr id="12" name="">
            <a:extLst xmlns:a="http://schemas.openxmlformats.org/drawingml/2006/main">
              <a:ext uri="{FF2B5EF4-FFF2-40B4-BE49-F238E27FC236}">
                <a16:creationId xmlns:a16="http://schemas.microsoft.com/office/drawing/2014/main" id="{42ED714C-C922-4108-9F93-64B2D030791A}"/>
              </a:ext>
            </a:extLst>
          </p:cNvPr>
          <p:cNvSpPr>
            <a:spLocks xmlns:a="http://schemas.openxmlformats.org/drawingml/2006/main" noGrp="1"/>
          </p:cNvSpPr>
          <p:nvPr/>
        </p:nvSpPr>
        <p:spPr>
          <a:xfrm xmlns:a="http://schemas.openxmlformats.org/drawingml/2006/main">
            <a:off x="3269218" y="3969548"/>
            <a:ext cx="371951" cy="593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225" b="0">
                <a:solidFill>
                  <a:srgbClr val="087F83"/>
                </a:solidFill>
                <a:latin typeface="Times New Roman"/>
                <a:ea typeface="Times New Roman"/>
                <a:cs typeface="Times New Roman"/>
              </a:defRPr>
            </a:pPr>
            <a:r>
              <a:rPr sz="3225" b="0">
                <a:solidFill>
                  <a:srgbClr val="087F83"/>
                </a:solidFill>
                <a:latin typeface="Times New Roman"/>
                <a:ea typeface="Times New Roman"/>
                <a:cs typeface="Times New Roman"/>
              </a:rPr>
              <a:t>w</a:t>
            </a:r>
          </a:p>
        </p:txBody>
      </p:sp>
      <p:sp>
        <p:nvSpPr>
          <p:cNvPr id="13" name="">
            <a:extLst xmlns:a="http://schemas.openxmlformats.org/drawingml/2006/main">
              <a:ext uri="{FF2B5EF4-FFF2-40B4-BE49-F238E27FC236}">
                <a16:creationId xmlns:a16="http://schemas.microsoft.com/office/drawing/2014/main" id="{7BB23B19-63D6-44E0-8AEC-870F983FC3DD}"/>
              </a:ext>
            </a:extLst>
          </p:cNvPr>
          <p:cNvSpPr>
            <a:spLocks xmlns:a="http://schemas.openxmlformats.org/drawingml/2006/main" noGrp="1"/>
          </p:cNvSpPr>
          <p:nvPr/>
        </p:nvSpPr>
        <p:spPr>
          <a:xfrm xmlns:a="http://schemas.openxmlformats.org/drawingml/2006/main">
            <a:off x="3564969" y="3929204"/>
            <a:ext cx="262414" cy="3741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32" b="0">
                <a:solidFill>
                  <a:srgbClr val="087F83"/>
                </a:solidFill>
                <a:latin typeface="Times New Roman"/>
                <a:ea typeface="Times New Roman"/>
                <a:cs typeface="Times New Roman"/>
              </a:defRPr>
            </a:pPr>
            <a:r>
              <a:rPr sz="2032" b="0">
                <a:solidFill>
                  <a:srgbClr val="087F83"/>
                </a:solidFill>
                <a:latin typeface="Times New Roman"/>
                <a:ea typeface="Times New Roman"/>
                <a:cs typeface="Times New Roman"/>
              </a:rPr>
              <a:t>V</a:t>
            </a:r>
          </a:p>
        </p:txBody>
      </p:sp>
      <p:sp>
        <p:nvSpPr>
          <p:cNvPr id="14" name="">
            <a:extLst xmlns:a="http://schemas.openxmlformats.org/drawingml/2006/main">
              <a:ext uri="{FF2B5EF4-FFF2-40B4-BE49-F238E27FC236}">
                <a16:creationId xmlns:a16="http://schemas.microsoft.com/office/drawing/2014/main" id="{912D4DED-127A-4D4E-BBCE-567E94C572EE}"/>
              </a:ext>
            </a:extLst>
          </p:cNvPr>
          <p:cNvSpPr>
            <a:spLocks xmlns:a="http://schemas.openxmlformats.org/drawingml/2006/main" noGrp="1"/>
          </p:cNvSpPr>
          <p:nvPr/>
        </p:nvSpPr>
        <p:spPr>
          <a:xfrm xmlns:a="http://schemas.openxmlformats.org/drawingml/2006/main">
            <a:off x="3751183" y="3969548"/>
            <a:ext cx="2217896" cy="593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225" b="0">
                <a:solidFill>
                  <a:srgbClr val="087F83"/>
                </a:solidFill>
                <a:latin typeface="Times New Roman"/>
                <a:ea typeface="Times New Roman"/>
                <a:cs typeface="Times New Roman"/>
              </a:defRPr>
            </a:pPr>
            <a:r>
              <a:rPr sz="3225" b="0">
                <a:solidFill>
                  <a:srgbClr val="087F83"/>
                </a:solidFill>
                <a:latin typeface="Times New Roman"/>
                <a:ea typeface="Times New Roman"/>
                <a:cs typeface="Times New Roman"/>
              </a:rPr>
              <a:t>′(z) + c′(z) = </a:t>
            </a:r>
          </a:p>
        </p:txBody>
      </p:sp>
      <p:sp>
        <p:nvSpPr>
          <p:cNvPr id="15" name="">
            <a:extLst xmlns:a="http://schemas.openxmlformats.org/drawingml/2006/main">
              <a:ext uri="{FF2B5EF4-FFF2-40B4-BE49-F238E27FC236}">
                <a16:creationId xmlns:a16="http://schemas.microsoft.com/office/drawing/2014/main" id="{09DF187F-C7C2-483A-9CF2-D76A3A27BD51}"/>
              </a:ext>
            </a:extLst>
          </p:cNvPr>
          <p:cNvSpPr>
            <a:spLocks xmlns:a="http://schemas.openxmlformats.org/drawingml/2006/main" noGrp="1"/>
          </p:cNvSpPr>
          <p:nvPr/>
        </p:nvSpPr>
        <p:spPr>
          <a:xfrm xmlns:a="http://schemas.openxmlformats.org/drawingml/2006/main">
            <a:off x="5969079" y="3924494"/>
            <a:ext cx="570071" cy="4751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80" b="0">
                <a:solidFill>
                  <a:srgbClr val="087F83"/>
                </a:solidFill>
                <a:latin typeface="Times New Roman"/>
                <a:ea typeface="Times New Roman"/>
                <a:cs typeface="Times New Roman"/>
              </a:defRPr>
            </a:pPr>
            <a:r>
              <a:rPr sz="2580" b="0">
                <a:solidFill>
                  <a:srgbClr val="087F83"/>
                </a:solidFill>
                <a:latin typeface="Times New Roman"/>
                <a:ea typeface="Times New Roman"/>
                <a:cs typeface="Times New Roman"/>
              </a:rPr>
              <a:t>a − </a:t>
            </a:r>
          </a:p>
        </p:txBody>
      </p:sp>
      <p:sp>
        <p:nvSpPr>
          <p:cNvPr id="16" name="">
            <a:extLst xmlns:a="http://schemas.openxmlformats.org/drawingml/2006/main">
              <a:ext uri="{FF2B5EF4-FFF2-40B4-BE49-F238E27FC236}">
                <a16:creationId xmlns:a16="http://schemas.microsoft.com/office/drawing/2014/main" id="{85B950C5-5A00-4A39-B61A-BFD81992D936}"/>
              </a:ext>
            </a:extLst>
          </p:cNvPr>
          <p:cNvSpPr>
            <a:spLocks xmlns:a="http://schemas.openxmlformats.org/drawingml/2006/main" noGrp="1"/>
          </p:cNvSpPr>
          <p:nvPr/>
        </p:nvSpPr>
        <p:spPr>
          <a:xfrm xmlns:a="http://schemas.openxmlformats.org/drawingml/2006/main">
            <a:off x="6462951" y="3924494"/>
            <a:ext cx="312801" cy="4751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80" b="0">
                <a:solidFill>
                  <a:srgbClr val="087F83"/>
                </a:solidFill>
                <a:latin typeface="Times New Roman"/>
                <a:ea typeface="Times New Roman"/>
                <a:cs typeface="Times New Roman"/>
              </a:defRPr>
            </a:pPr>
            <a:r>
              <a:rPr sz="2580" b="0">
                <a:solidFill>
                  <a:srgbClr val="087F83"/>
                </a:solidFill>
                <a:latin typeface="Times New Roman"/>
                <a:ea typeface="Times New Roman"/>
                <a:cs typeface="Times New Roman"/>
              </a:rPr>
              <a:t>w</a:t>
            </a:r>
          </a:p>
        </p:txBody>
      </p:sp>
      <p:sp>
        <p:nvSpPr>
          <p:cNvPr id="17" name="">
            <a:extLst xmlns:a="http://schemas.openxmlformats.org/drawingml/2006/main">
              <a:ext uri="{FF2B5EF4-FFF2-40B4-BE49-F238E27FC236}">
                <a16:creationId xmlns:a16="http://schemas.microsoft.com/office/drawing/2014/main" id="{6D4A60A3-6F83-4292-A129-9D129448E169}"/>
              </a:ext>
            </a:extLst>
          </p:cNvPr>
          <p:cNvSpPr>
            <a:spLocks xmlns:a="http://schemas.openxmlformats.org/drawingml/2006/main" noGrp="1"/>
          </p:cNvSpPr>
          <p:nvPr/>
        </p:nvSpPr>
        <p:spPr>
          <a:xfrm xmlns:a="http://schemas.openxmlformats.org/drawingml/2006/main">
            <a:off x="6699552" y="3892220"/>
            <a:ext cx="225266" cy="2993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25" b="0">
                <a:solidFill>
                  <a:srgbClr val="087F83"/>
                </a:solidFill>
                <a:latin typeface="Times New Roman"/>
                <a:ea typeface="Times New Roman"/>
                <a:cs typeface="Times New Roman"/>
              </a:defRPr>
            </a:pPr>
            <a:r>
              <a:rPr sz="1625" b="0">
                <a:solidFill>
                  <a:srgbClr val="087F83"/>
                </a:solidFill>
                <a:latin typeface="Times New Roman"/>
                <a:ea typeface="Times New Roman"/>
                <a:cs typeface="Times New Roman"/>
              </a:rPr>
              <a:t>V</a:t>
            </a:r>
          </a:p>
        </p:txBody>
      </p:sp>
      <p:sp>
        <p:nvSpPr>
          <p:cNvPr id="18" name="">
            <a:extLst xmlns:a="http://schemas.openxmlformats.org/drawingml/2006/main">
              <a:ext uri="{FF2B5EF4-FFF2-40B4-BE49-F238E27FC236}">
                <a16:creationId xmlns:a16="http://schemas.microsoft.com/office/drawing/2014/main" id="{98DCD983-0E64-486A-9F2E-FA1E62C88611}"/>
              </a:ext>
            </a:extLst>
          </p:cNvPr>
          <p:cNvSpPr>
            <a:spLocks xmlns:a="http://schemas.openxmlformats.org/drawingml/2006/main" noGrp="1"/>
          </p:cNvSpPr>
          <p:nvPr/>
        </p:nvSpPr>
        <p:spPr>
          <a:xfrm xmlns:a="http://schemas.openxmlformats.org/drawingml/2006/main">
            <a:off x="6848618" y="3924494"/>
            <a:ext cx="1297210" cy="4751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80" b="0">
                <a:solidFill>
                  <a:srgbClr val="087F83"/>
                </a:solidFill>
                <a:latin typeface="Times New Roman"/>
                <a:ea typeface="Times New Roman"/>
                <a:cs typeface="Times New Roman"/>
              </a:defRPr>
            </a:pPr>
            <a:r>
              <a:rPr sz="2580" b="0">
                <a:solidFill>
                  <a:srgbClr val="087F83"/>
                </a:solidFill>
                <a:latin typeface="Times New Roman"/>
                <a:ea typeface="Times New Roman"/>
                <a:cs typeface="Times New Roman"/>
              </a:rPr>
              <a:t>(z) − c(z)</a:t>
            </a:r>
          </a:p>
        </p:txBody>
      </p:sp>
      <p:sp>
        <p:nvSpPr>
          <p:cNvPr id="19" name="">
            <a:extLst xmlns:a="http://schemas.openxmlformats.org/drawingml/2006/main">
              <a:ext uri="{FF2B5EF4-FFF2-40B4-BE49-F238E27FC236}">
                <a16:creationId xmlns:a16="http://schemas.microsoft.com/office/drawing/2014/main" id="{C69449FB-06F8-4351-AC68-5779C25D4F6C}"/>
              </a:ext>
            </a:extLst>
          </p:cNvPr>
          <p:cNvSpPr>
            <a:spLocks xmlns:a="http://schemas.openxmlformats.org/drawingml/2006/main" noGrp="1"/>
          </p:cNvSpPr>
          <p:nvPr/>
        </p:nvSpPr>
        <p:spPr>
          <a:xfrm xmlns:a="http://schemas.openxmlformats.org/drawingml/2006/main">
            <a:off x="5921454" y="4362740"/>
            <a:ext cx="2195798" cy="1524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201C97-11ED-4253-92AF-16DA4A6F4208}"/>
              </a:ext>
            </a:extLst>
          </p:cNvPr>
          <p:cNvSpPr>
            <a:spLocks xmlns:a="http://schemas.openxmlformats.org/drawingml/2006/main" noGrp="1"/>
          </p:cNvSpPr>
          <p:nvPr/>
        </p:nvSpPr>
        <p:spPr>
          <a:xfrm xmlns:a="http://schemas.openxmlformats.org/drawingml/2006/main">
            <a:off x="6690503" y="4415984"/>
            <a:ext cx="733901" cy="4751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580" b="0">
                <a:solidFill>
                  <a:srgbClr val="087F83"/>
                </a:solidFill>
                <a:latin typeface="Times New Roman"/>
                <a:ea typeface="Times New Roman"/>
                <a:cs typeface="Times New Roman"/>
              </a:defRPr>
            </a:pPr>
            <a:r>
              <a:rPr sz="2580" b="0">
                <a:solidFill>
                  <a:srgbClr val="087F83"/>
                </a:solidFill>
                <a:latin typeface="Times New Roman"/>
                <a:ea typeface="Times New Roman"/>
                <a:cs typeface="Times New Roman"/>
              </a:rPr>
              <a:t>1 − z</a:t>
            </a:r>
          </a:p>
        </p:txBody>
      </p:sp>
      <p:sp>
        <p:nvSpPr>
          <p:cNvPr id="21" name="">
            <a:extLst xmlns:a="http://schemas.openxmlformats.org/drawingml/2006/main">
              <a:ext uri="{FF2B5EF4-FFF2-40B4-BE49-F238E27FC236}">
                <a16:creationId xmlns:a16="http://schemas.microsoft.com/office/drawing/2014/main" id="{689B63C9-88D4-4DCA-ADA5-618DEEF7E114}"/>
              </a:ext>
            </a:extLst>
          </p:cNvPr>
          <p:cNvSpPr>
            <a:spLocks xmlns:a="http://schemas.openxmlformats.org/drawingml/2006/main" noGrp="1"/>
          </p:cNvSpPr>
          <p:nvPr/>
        </p:nvSpPr>
        <p:spPr>
          <a:xfrm xmlns:a="http://schemas.openxmlformats.org/drawingml/2006/main">
            <a:off x="8145828" y="3969548"/>
            <a:ext cx="853154" cy="593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225" b="0">
                <a:solidFill>
                  <a:srgbClr val="087F83"/>
                </a:solidFill>
                <a:latin typeface="Times New Roman"/>
                <a:ea typeface="Times New Roman"/>
                <a:cs typeface="Times New Roman"/>
              </a:defRPr>
            </a:pPr>
            <a:r>
              <a:rPr sz="3225" b="0">
                <a:solidFill>
                  <a:srgbClr val="087F83"/>
                </a:solidFill>
                <a:latin typeface="Times New Roman"/>
                <a:ea typeface="Times New Roman"/>
                <a:cs typeface="Times New Roman"/>
              </a:rPr>
              <a:t> = hr</a:t>
            </a:r>
          </a:p>
        </p:txBody>
      </p:sp>
      <p:sp>
        <p:nvSpPr>
          <p:cNvPr id="22" name="">
            <a:extLst xmlns:a="http://schemas.openxmlformats.org/drawingml/2006/main">
              <a:ext uri="{FF2B5EF4-FFF2-40B4-BE49-F238E27FC236}">
                <a16:creationId xmlns:a16="http://schemas.microsoft.com/office/drawing/2014/main" id="{EA8C4602-638A-4D10-B499-58129F2B0136}"/>
              </a:ext>
            </a:extLst>
          </p:cNvPr>
          <p:cNvSpPr>
            <a:spLocks xmlns:a="http://schemas.openxmlformats.org/drawingml/2006/main" noGrp="1"/>
          </p:cNvSpPr>
          <p:nvPr/>
        </p:nvSpPr>
        <p:spPr>
          <a:xfrm xmlns:a="http://schemas.openxmlformats.org/drawingml/2006/main">
            <a:off x="685800"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36372"/>
                </a:solidFill>
                <a:latin typeface="Arial"/>
                <a:ea typeface="Arial"/>
                <a:cs typeface="Arial"/>
              </a:defRPr>
            </a:pPr>
            <a:r>
              <a:rPr sz="1800" b="0">
                <a:solidFill>
                  <a:srgbClr val="536372"/>
                </a:solidFill>
                <a:latin typeface="Arial"/>
                <a:ea typeface="Arial"/>
                <a:cs typeface="Arial"/>
              </a:rPr>
              <a:t>Interior y diferenciabilidad. La última igualdad usa beneficio cero.</a:t>
            </a:r>
          </a:p>
        </p:txBody>
      </p:sp>
    </p:spTree>
    <p:extLst>
      <p:ext uri="{BB962C8B-B14F-4D97-AF65-F5344CB8AC3E}">
        <p14:creationId xmlns:p14="http://schemas.microsoft.com/office/powerpoint/2010/main" val="1509375763"/>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01F0C6-EC2D-49BE-9916-F5AF4B834E7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Implicación local para el salario</a:t>
            </a:r>
          </a:p>
        </p:txBody>
      </p:sp>
      <p:sp>
        <p:nvSpPr>
          <p:cNvPr id="2" name="">
            <a:extLst xmlns:a="http://schemas.openxmlformats.org/drawingml/2006/main">
              <a:ext uri="{FF2B5EF4-FFF2-40B4-BE49-F238E27FC236}">
                <a16:creationId xmlns:a16="http://schemas.microsoft.com/office/drawing/2014/main" id="{2C0C8F68-E3EE-4A8E-B49B-90E22AACCF5D}"/>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8D8F2469-1B26-41D3-B5B8-C134C8C82ECA}"/>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Implicación local propia, condicionada a actividad humano–IA y r = 0</a:t>
            </a:r>
          </a:p>
        </p:txBody>
      </p:sp>
      <p:sp>
        <p:nvSpPr>
          <p:cNvPr id="4" name="">
            <a:extLst xmlns:a="http://schemas.openxmlformats.org/drawingml/2006/main">
              <a:ext uri="{FF2B5EF4-FFF2-40B4-BE49-F238E27FC236}">
                <a16:creationId xmlns:a16="http://schemas.microsoft.com/office/drawing/2014/main" id="{744672D0-C770-47BF-8D93-44E317DC5184}"/>
              </a:ext>
            </a:extLst>
          </p:cNvPr>
          <p:cNvSpPr>
            <a:spLocks xmlns:a="http://schemas.openxmlformats.org/drawingml/2006/main" noGrp="1"/>
          </p:cNvSpPr>
          <p:nvPr/>
        </p:nvSpPr>
        <p:spPr>
          <a:xfrm xmlns:a="http://schemas.openxmlformats.org/drawingml/2006/main">
            <a:off x="4538520" y="1714724"/>
            <a:ext cx="427006" cy="7043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825" b="0">
                <a:solidFill>
                  <a:srgbClr val="087F83"/>
                </a:solidFill>
                <a:latin typeface="Times New Roman"/>
                <a:ea typeface="Times New Roman"/>
                <a:cs typeface="Times New Roman"/>
              </a:defRPr>
            </a:pPr>
            <a:r>
              <a:rPr sz="3825" b="0">
                <a:solidFill>
                  <a:srgbClr val="087F83"/>
                </a:solidFill>
                <a:latin typeface="Times New Roman"/>
                <a:ea typeface="Times New Roman"/>
                <a:cs typeface="Times New Roman"/>
              </a:rPr>
              <a:t>w</a:t>
            </a:r>
          </a:p>
        </p:txBody>
      </p:sp>
      <p:sp>
        <p:nvSpPr>
          <p:cNvPr id="5" name="">
            <a:extLst xmlns:a="http://schemas.openxmlformats.org/drawingml/2006/main">
              <a:ext uri="{FF2B5EF4-FFF2-40B4-BE49-F238E27FC236}">
                <a16:creationId xmlns:a16="http://schemas.microsoft.com/office/drawing/2014/main" id="{0A3C8260-5C20-4296-9947-8E6E27F3FCDB}"/>
              </a:ext>
            </a:extLst>
          </p:cNvPr>
          <p:cNvSpPr>
            <a:spLocks xmlns:a="http://schemas.openxmlformats.org/drawingml/2006/main" noGrp="1"/>
          </p:cNvSpPr>
          <p:nvPr/>
        </p:nvSpPr>
        <p:spPr>
          <a:xfrm xmlns:a="http://schemas.openxmlformats.org/drawingml/2006/main">
            <a:off x="4889325" y="1666875"/>
            <a:ext cx="297180" cy="443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10" b="0">
                <a:solidFill>
                  <a:srgbClr val="087F83"/>
                </a:solidFill>
                <a:latin typeface="Times New Roman"/>
                <a:ea typeface="Times New Roman"/>
                <a:cs typeface="Times New Roman"/>
              </a:defRPr>
            </a:pPr>
            <a:r>
              <a:rPr sz="2410" b="0">
                <a:solidFill>
                  <a:srgbClr val="087F83"/>
                </a:solidFill>
                <a:latin typeface="Times New Roman"/>
                <a:ea typeface="Times New Roman"/>
                <a:cs typeface="Times New Roman"/>
              </a:rPr>
              <a:t>V</a:t>
            </a:r>
          </a:p>
        </p:txBody>
      </p:sp>
      <p:sp>
        <p:nvSpPr>
          <p:cNvPr id="6" name="">
            <a:extLst xmlns:a="http://schemas.openxmlformats.org/drawingml/2006/main">
              <a:ext uri="{FF2B5EF4-FFF2-40B4-BE49-F238E27FC236}">
                <a16:creationId xmlns:a16="http://schemas.microsoft.com/office/drawing/2014/main" id="{67F9EB6F-843A-40DE-8C03-E9233CFBAD84}"/>
              </a:ext>
            </a:extLst>
          </p:cNvPr>
          <p:cNvSpPr>
            <a:spLocks xmlns:a="http://schemas.openxmlformats.org/drawingml/2006/main" noGrp="1"/>
          </p:cNvSpPr>
          <p:nvPr/>
        </p:nvSpPr>
        <p:spPr>
          <a:xfrm xmlns:a="http://schemas.openxmlformats.org/drawingml/2006/main">
            <a:off x="5110305" y="1714724"/>
            <a:ext cx="2619375" cy="7043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825" b="0">
                <a:solidFill>
                  <a:srgbClr val="087F83"/>
                </a:solidFill>
                <a:latin typeface="Times New Roman"/>
                <a:ea typeface="Times New Roman"/>
                <a:cs typeface="Times New Roman"/>
              </a:defRPr>
            </a:pPr>
            <a:r>
              <a:rPr sz="3825" b="0">
                <a:solidFill>
                  <a:srgbClr val="087F83"/>
                </a:solidFill>
                <a:latin typeface="Times New Roman"/>
                <a:ea typeface="Times New Roman"/>
                <a:cs typeface="Times New Roman"/>
              </a:rPr>
              <a:t>(z) = a − c(z)</a:t>
            </a:r>
          </a:p>
        </p:txBody>
      </p:sp>
      <p:sp>
        <p:nvSpPr>
          <p:cNvPr id="7" name="">
            <a:extLst xmlns:a="http://schemas.openxmlformats.org/drawingml/2006/main">
              <a:ext uri="{FF2B5EF4-FFF2-40B4-BE49-F238E27FC236}">
                <a16:creationId xmlns:a16="http://schemas.microsoft.com/office/drawing/2014/main" id="{6A5047D3-55CB-44A9-83FF-3DB57A7F5EE6}"/>
              </a:ext>
            </a:extLst>
          </p:cNvPr>
          <p:cNvSpPr>
            <a:spLocks xmlns:a="http://schemas.openxmlformats.org/drawingml/2006/main" noGrp="1"/>
          </p:cNvSpPr>
          <p:nvPr/>
        </p:nvSpPr>
        <p:spPr>
          <a:xfrm xmlns:a="http://schemas.openxmlformats.org/drawingml/2006/main">
            <a:off x="4280678" y="2714849"/>
            <a:ext cx="427006" cy="7043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825" b="0">
                <a:solidFill>
                  <a:srgbClr val="087F83"/>
                </a:solidFill>
                <a:latin typeface="Times New Roman"/>
                <a:ea typeface="Times New Roman"/>
                <a:cs typeface="Times New Roman"/>
              </a:defRPr>
            </a:pPr>
            <a:r>
              <a:rPr sz="3825" b="0">
                <a:solidFill>
                  <a:srgbClr val="087F83"/>
                </a:solidFill>
                <a:latin typeface="Times New Roman"/>
                <a:ea typeface="Times New Roman"/>
                <a:cs typeface="Times New Roman"/>
              </a:rPr>
              <a:t>w</a:t>
            </a:r>
          </a:p>
        </p:txBody>
      </p:sp>
      <p:sp>
        <p:nvSpPr>
          <p:cNvPr id="8" name="">
            <a:extLst xmlns:a="http://schemas.openxmlformats.org/drawingml/2006/main">
              <a:ext uri="{FF2B5EF4-FFF2-40B4-BE49-F238E27FC236}">
                <a16:creationId xmlns:a16="http://schemas.microsoft.com/office/drawing/2014/main" id="{19BB8A73-B5E4-4129-966B-83F3360F03C0}"/>
              </a:ext>
            </a:extLst>
          </p:cNvPr>
          <p:cNvSpPr>
            <a:spLocks xmlns:a="http://schemas.openxmlformats.org/drawingml/2006/main" noGrp="1"/>
          </p:cNvSpPr>
          <p:nvPr/>
        </p:nvSpPr>
        <p:spPr>
          <a:xfrm xmlns:a="http://schemas.openxmlformats.org/drawingml/2006/main">
            <a:off x="4631484" y="2667000"/>
            <a:ext cx="297180" cy="443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410" b="0">
                <a:solidFill>
                  <a:srgbClr val="087F83"/>
                </a:solidFill>
                <a:latin typeface="Times New Roman"/>
                <a:ea typeface="Times New Roman"/>
                <a:cs typeface="Times New Roman"/>
              </a:defRPr>
            </a:pPr>
            <a:r>
              <a:rPr sz="2410" b="0">
                <a:solidFill>
                  <a:srgbClr val="087F83"/>
                </a:solidFill>
                <a:latin typeface="Times New Roman"/>
                <a:ea typeface="Times New Roman"/>
                <a:cs typeface="Times New Roman"/>
              </a:rPr>
              <a:t>V</a:t>
            </a:r>
          </a:p>
        </p:txBody>
      </p:sp>
      <p:sp>
        <p:nvSpPr>
          <p:cNvPr id="9" name="">
            <a:extLst xmlns:a="http://schemas.openxmlformats.org/drawingml/2006/main">
              <a:ext uri="{FF2B5EF4-FFF2-40B4-BE49-F238E27FC236}">
                <a16:creationId xmlns:a16="http://schemas.microsoft.com/office/drawing/2014/main" id="{BF8D6C73-3DDD-4484-A620-217019E41D41}"/>
              </a:ext>
            </a:extLst>
          </p:cNvPr>
          <p:cNvSpPr>
            <a:spLocks xmlns:a="http://schemas.openxmlformats.org/drawingml/2006/main" noGrp="1"/>
          </p:cNvSpPr>
          <p:nvPr/>
        </p:nvSpPr>
        <p:spPr>
          <a:xfrm xmlns:a="http://schemas.openxmlformats.org/drawingml/2006/main">
            <a:off x="4852464" y="2714849"/>
            <a:ext cx="3135059" cy="7043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825" b="0">
                <a:solidFill>
                  <a:srgbClr val="087F83"/>
                </a:solidFill>
                <a:latin typeface="Times New Roman"/>
                <a:ea typeface="Times New Roman"/>
                <a:cs typeface="Times New Roman"/>
              </a:defRPr>
            </a:pPr>
            <a:r>
              <a:rPr sz="3825" b="0">
                <a:solidFill>
                  <a:srgbClr val="087F83"/>
                </a:solidFill>
                <a:latin typeface="Times New Roman"/>
                <a:ea typeface="Times New Roman"/>
                <a:cs typeface="Times New Roman"/>
              </a:rPr>
              <a:t>′(z) = −c′(z) = κ</a:t>
            </a:r>
          </a:p>
        </p:txBody>
      </p:sp>
      <p:sp>
        <p:nvSpPr>
          <p:cNvPr id="10" name="">
            <a:extLst xmlns:a="http://schemas.openxmlformats.org/drawingml/2006/main">
              <a:ext uri="{FF2B5EF4-FFF2-40B4-BE49-F238E27FC236}">
                <a16:creationId xmlns:a16="http://schemas.microsoft.com/office/drawing/2014/main" id="{CC68E06E-B58C-419B-A3E7-25FB3E387A11}"/>
              </a:ext>
            </a:extLst>
          </p:cNvPr>
          <p:cNvSpPr>
            <a:spLocks xmlns:a="http://schemas.openxmlformats.org/drawingml/2006/main" noGrp="1"/>
          </p:cNvSpPr>
          <p:nvPr/>
        </p:nvSpPr>
        <p:spPr>
          <a:xfrm xmlns:a="http://schemas.openxmlformats.org/drawingml/2006/main">
            <a:off x="666750" y="3952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2C40"/>
                </a:solidFill>
                <a:latin typeface="Arial"/>
                <a:ea typeface="Arial"/>
                <a:cs typeface="Arial"/>
              </a:defRPr>
            </a:pPr>
            <a:r>
              <a:rPr sz="2325" b="0">
                <a:solidFill>
                  <a:srgbClr val="152C40"/>
                </a:solidFill>
                <a:latin typeface="Arial"/>
                <a:ea typeface="Arial"/>
                <a:cs typeface="Arial"/>
              </a:rPr>
              <a:t>El ahorro de validación se refleja en el salario</a:t>
            </a:r>
          </a:p>
          <a:p xmlns:a="http://schemas.openxmlformats.org/drawingml/2006/main">
            <a:pPr>
              <a:defRPr sz="2325" b="0">
                <a:solidFill>
                  <a:srgbClr val="152C40"/>
                </a:solidFill>
                <a:latin typeface="Arial"/>
                <a:ea typeface="Arial"/>
                <a:cs typeface="Arial"/>
              </a:defRPr>
            </a:pPr>
            <a:r>
              <a:rPr sz="2325" b="0">
                <a:solidFill>
                  <a:srgbClr val="152C40"/>
                </a:solidFill>
                <a:latin typeface="Arial"/>
                <a:ea typeface="Arial"/>
                <a:cs typeface="Arial"/>
              </a:rPr>
              <a:t>dentro del tramo activo de usuarios de IA.</a:t>
            </a:r>
          </a:p>
        </p:txBody>
      </p:sp>
      <p:sp>
        <p:nvSpPr>
          <p:cNvPr id="11" name="">
            <a:extLst xmlns:a="http://schemas.openxmlformats.org/drawingml/2006/main">
              <a:ext uri="{FF2B5EF4-FFF2-40B4-BE49-F238E27FC236}">
                <a16:creationId xmlns:a16="http://schemas.microsoft.com/office/drawing/2014/main" id="{C0763197-6756-4BB8-A7E0-05F1A36EE6D9}"/>
              </a:ext>
            </a:extLst>
          </p:cNvPr>
          <p:cNvSpPr>
            <a:spLocks xmlns:a="http://schemas.openxmlformats.org/drawingml/2006/main" noGrp="1"/>
          </p:cNvSpPr>
          <p:nvPr/>
        </p:nvSpPr>
        <p:spPr>
          <a:xfrm xmlns:a="http://schemas.openxmlformats.org/drawingml/2006/main">
            <a:off x="6858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A95436"/>
                </a:solidFill>
                <a:latin typeface="Arial"/>
                <a:ea typeface="Arial"/>
                <a:cs typeface="Arial"/>
              </a:defRPr>
            </a:pPr>
            <a:r>
              <a:rPr sz="1875" b="1">
                <a:solidFill>
                  <a:srgbClr val="A95436"/>
                </a:solidFill>
                <a:latin typeface="Arial"/>
                <a:ea typeface="Arial"/>
                <a:cs typeface="Arial"/>
              </a:rPr>
              <a:t>No determina por sí solo quién pertenece a ese tramo.</a:t>
            </a:r>
          </a:p>
        </p:txBody>
      </p:sp>
    </p:spTree>
    <p:extLst>
      <p:ext uri="{BB962C8B-B14F-4D97-AF65-F5344CB8AC3E}">
        <p14:creationId xmlns:p14="http://schemas.microsoft.com/office/powerpoint/2010/main" val="1080860242"/>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999849F-770C-4A37-8396-9B3B3AA44A1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Condición de entrada desde la economía sin IA</a:t>
            </a:r>
          </a:p>
        </p:txBody>
      </p:sp>
      <p:sp>
        <p:nvSpPr>
          <p:cNvPr id="2" name="">
            <a:extLst xmlns:a="http://schemas.openxmlformats.org/drawingml/2006/main">
              <a:ext uri="{FF2B5EF4-FFF2-40B4-BE49-F238E27FC236}">
                <a16:creationId xmlns:a16="http://schemas.microsoft.com/office/drawing/2014/main" id="{FCBC1AC5-E89D-4246-B065-39CFFBD76355}"/>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2B46A80D-033F-4222-BFA1-57FC0003B429}"/>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Comparación de entrada propia. w⁰ es el salario del equilibrio sin IA</a:t>
            </a:r>
          </a:p>
        </p:txBody>
      </p:sp>
      <p:sp>
        <p:nvSpPr>
          <p:cNvPr id="4" name="">
            <a:extLst xmlns:a="http://schemas.openxmlformats.org/drawingml/2006/main">
              <a:ext uri="{FF2B5EF4-FFF2-40B4-BE49-F238E27FC236}">
                <a16:creationId xmlns:a16="http://schemas.microsoft.com/office/drawing/2014/main" id="{59E066A5-1397-47E7-9CD7-3A101889E6D9}"/>
              </a:ext>
            </a:extLst>
          </p:cNvPr>
          <p:cNvSpPr>
            <a:spLocks xmlns:a="http://schemas.openxmlformats.org/drawingml/2006/main" noGrp="1"/>
          </p:cNvSpPr>
          <p:nvPr/>
        </p:nvSpPr>
        <p:spPr>
          <a:xfrm xmlns:a="http://schemas.openxmlformats.org/drawingml/2006/main">
            <a:off x="4125325" y="1755781"/>
            <a:ext cx="345662" cy="607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152C40"/>
                </a:solidFill>
                <a:latin typeface="Times New Roman"/>
                <a:ea typeface="Times New Roman"/>
                <a:cs typeface="Times New Roman"/>
              </a:defRPr>
            </a:pPr>
            <a:r>
              <a:rPr sz="3300" b="0">
                <a:solidFill>
                  <a:srgbClr val="152C40"/>
                </a:solidFill>
                <a:latin typeface="Times New Roman"/>
                <a:ea typeface="Times New Roman"/>
                <a:cs typeface="Times New Roman"/>
              </a:rPr>
              <a:t>Δ</a:t>
            </a:r>
          </a:p>
        </p:txBody>
      </p:sp>
      <p:sp>
        <p:nvSpPr>
          <p:cNvPr id="5" name="">
            <a:extLst xmlns:a="http://schemas.openxmlformats.org/drawingml/2006/main">
              <a:ext uri="{FF2B5EF4-FFF2-40B4-BE49-F238E27FC236}">
                <a16:creationId xmlns:a16="http://schemas.microsoft.com/office/drawing/2014/main" id="{C4069C04-85C3-4619-B0A3-2E9A42180731}"/>
              </a:ext>
            </a:extLst>
          </p:cNvPr>
          <p:cNvSpPr>
            <a:spLocks xmlns:a="http://schemas.openxmlformats.org/drawingml/2006/main" noGrp="1"/>
          </p:cNvSpPr>
          <p:nvPr/>
        </p:nvSpPr>
        <p:spPr>
          <a:xfrm xmlns:a="http://schemas.openxmlformats.org/drawingml/2006/main">
            <a:off x="4394787" y="1714500"/>
            <a:ext cx="208216" cy="382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79" b="0">
                <a:solidFill>
                  <a:srgbClr val="152C40"/>
                </a:solidFill>
                <a:latin typeface="Times New Roman"/>
                <a:ea typeface="Times New Roman"/>
                <a:cs typeface="Times New Roman"/>
              </a:defRPr>
            </a:pPr>
            <a:r>
              <a:rPr sz="2079" b="0">
                <a:solidFill>
                  <a:srgbClr val="152C40"/>
                </a:solidFill>
                <a:latin typeface="Times New Roman"/>
                <a:ea typeface="Times New Roman"/>
                <a:cs typeface="Times New Roman"/>
              </a:rPr>
              <a:t>0</a:t>
            </a:r>
          </a:p>
        </p:txBody>
      </p:sp>
      <p:sp>
        <p:nvSpPr>
          <p:cNvPr id="6" name="">
            <a:extLst xmlns:a="http://schemas.openxmlformats.org/drawingml/2006/main">
              <a:ext uri="{FF2B5EF4-FFF2-40B4-BE49-F238E27FC236}">
                <a16:creationId xmlns:a16="http://schemas.microsoft.com/office/drawing/2014/main" id="{BCD51501-677F-4B8F-B426-6DF720AD7187}"/>
              </a:ext>
            </a:extLst>
          </p:cNvPr>
          <p:cNvSpPr>
            <a:spLocks xmlns:a="http://schemas.openxmlformats.org/drawingml/2006/main" noGrp="1"/>
          </p:cNvSpPr>
          <p:nvPr/>
        </p:nvSpPr>
        <p:spPr>
          <a:xfrm xmlns:a="http://schemas.openxmlformats.org/drawingml/2006/main">
            <a:off x="4526804" y="1755781"/>
            <a:ext cx="2716244" cy="607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152C40"/>
                </a:solidFill>
                <a:latin typeface="Times New Roman"/>
                <a:ea typeface="Times New Roman"/>
                <a:cs typeface="Times New Roman"/>
              </a:defRPr>
            </a:pPr>
            <a:r>
              <a:rPr sz="3300" b="0">
                <a:solidFill>
                  <a:srgbClr val="152C40"/>
                </a:solidFill>
                <a:latin typeface="Times New Roman"/>
                <a:ea typeface="Times New Roman"/>
                <a:cs typeface="Times New Roman"/>
              </a:rPr>
              <a:t>(z) = a − c(z) − </a:t>
            </a:r>
          </a:p>
        </p:txBody>
      </p:sp>
      <p:sp>
        <p:nvSpPr>
          <p:cNvPr id="7" name="">
            <a:extLst xmlns:a="http://schemas.openxmlformats.org/drawingml/2006/main">
              <a:ext uri="{FF2B5EF4-FFF2-40B4-BE49-F238E27FC236}">
                <a16:creationId xmlns:a16="http://schemas.microsoft.com/office/drawing/2014/main" id="{72792560-F86D-4E31-97A9-B3CFA283EE12}"/>
              </a:ext>
            </a:extLst>
          </p:cNvPr>
          <p:cNvSpPr>
            <a:spLocks xmlns:a="http://schemas.openxmlformats.org/drawingml/2006/main" noGrp="1"/>
          </p:cNvSpPr>
          <p:nvPr/>
        </p:nvSpPr>
        <p:spPr>
          <a:xfrm xmlns:a="http://schemas.openxmlformats.org/drawingml/2006/main">
            <a:off x="7166848" y="1755781"/>
            <a:ext cx="378905" cy="607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152C40"/>
                </a:solidFill>
                <a:latin typeface="Times New Roman"/>
                <a:ea typeface="Times New Roman"/>
                <a:cs typeface="Times New Roman"/>
              </a:defRPr>
            </a:pPr>
            <a:r>
              <a:rPr sz="3300" b="0">
                <a:solidFill>
                  <a:srgbClr val="152C40"/>
                </a:solidFill>
                <a:latin typeface="Times New Roman"/>
                <a:ea typeface="Times New Roman"/>
                <a:cs typeface="Times New Roman"/>
              </a:rPr>
              <a:t>w</a:t>
            </a:r>
          </a:p>
        </p:txBody>
      </p:sp>
      <p:sp>
        <p:nvSpPr>
          <p:cNvPr id="8" name="">
            <a:extLst xmlns:a="http://schemas.openxmlformats.org/drawingml/2006/main">
              <a:ext uri="{FF2B5EF4-FFF2-40B4-BE49-F238E27FC236}">
                <a16:creationId xmlns:a16="http://schemas.microsoft.com/office/drawing/2014/main" id="{62DC31E1-39E0-4BC8-AF8E-12F78C4B89B0}"/>
              </a:ext>
            </a:extLst>
          </p:cNvPr>
          <p:cNvSpPr>
            <a:spLocks xmlns:a="http://schemas.openxmlformats.org/drawingml/2006/main" noGrp="1"/>
          </p:cNvSpPr>
          <p:nvPr/>
        </p:nvSpPr>
        <p:spPr>
          <a:xfrm xmlns:a="http://schemas.openxmlformats.org/drawingml/2006/main">
            <a:off x="7469553" y="1714500"/>
            <a:ext cx="208216" cy="3828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79" b="0">
                <a:solidFill>
                  <a:srgbClr val="152C40"/>
                </a:solidFill>
                <a:latin typeface="Times New Roman"/>
                <a:ea typeface="Times New Roman"/>
                <a:cs typeface="Times New Roman"/>
              </a:defRPr>
            </a:pPr>
            <a:r>
              <a:rPr sz="2079" b="0">
                <a:solidFill>
                  <a:srgbClr val="152C40"/>
                </a:solidFill>
                <a:latin typeface="Times New Roman"/>
                <a:ea typeface="Times New Roman"/>
                <a:cs typeface="Times New Roman"/>
              </a:rPr>
              <a:t>0</a:t>
            </a:r>
          </a:p>
        </p:txBody>
      </p:sp>
      <p:sp>
        <p:nvSpPr>
          <p:cNvPr id="9" name="">
            <a:extLst xmlns:a="http://schemas.openxmlformats.org/drawingml/2006/main">
              <a:ext uri="{FF2B5EF4-FFF2-40B4-BE49-F238E27FC236}">
                <a16:creationId xmlns:a16="http://schemas.microsoft.com/office/drawing/2014/main" id="{CCC68ADD-7DF6-4A4A-BEB6-5B77903E04C4}"/>
              </a:ext>
            </a:extLst>
          </p:cNvPr>
          <p:cNvSpPr>
            <a:spLocks xmlns:a="http://schemas.openxmlformats.org/drawingml/2006/main" noGrp="1"/>
          </p:cNvSpPr>
          <p:nvPr/>
        </p:nvSpPr>
        <p:spPr>
          <a:xfrm xmlns:a="http://schemas.openxmlformats.org/drawingml/2006/main">
            <a:off x="7601569" y="1755781"/>
            <a:ext cx="541306" cy="6076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00" b="0">
                <a:solidFill>
                  <a:srgbClr val="152C40"/>
                </a:solidFill>
                <a:latin typeface="Times New Roman"/>
                <a:ea typeface="Times New Roman"/>
                <a:cs typeface="Times New Roman"/>
              </a:defRPr>
            </a:pPr>
            <a:r>
              <a:rPr sz="3300" b="0">
                <a:solidFill>
                  <a:srgbClr val="152C40"/>
                </a:solidFill>
                <a:latin typeface="Times New Roman"/>
                <a:ea typeface="Times New Roman"/>
                <a:cs typeface="Times New Roman"/>
              </a:rPr>
              <a:t>(z)</a:t>
            </a:r>
          </a:p>
        </p:txBody>
      </p:sp>
      <p:sp>
        <p:nvSpPr>
          <p:cNvPr id="10" name="">
            <a:extLst xmlns:a="http://schemas.openxmlformats.org/drawingml/2006/main">
              <a:ext uri="{FF2B5EF4-FFF2-40B4-BE49-F238E27FC236}">
                <a16:creationId xmlns:a16="http://schemas.microsoft.com/office/drawing/2014/main" id="{5B71D99D-FFE0-462E-BC9C-E66173F8103B}"/>
              </a:ext>
            </a:extLst>
          </p:cNvPr>
          <p:cNvSpPr>
            <a:spLocks xmlns:a="http://schemas.openxmlformats.org/drawingml/2006/main" noGrp="1"/>
          </p:cNvSpPr>
          <p:nvPr/>
        </p:nvSpPr>
        <p:spPr>
          <a:xfrm xmlns:a="http://schemas.openxmlformats.org/drawingml/2006/main">
            <a:off x="5231178" y="2713911"/>
            <a:ext cx="382429" cy="690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750" b="0">
                <a:solidFill>
                  <a:srgbClr val="087F83"/>
                </a:solidFill>
                <a:latin typeface="Times New Roman"/>
                <a:ea typeface="Times New Roman"/>
                <a:cs typeface="Times New Roman"/>
              </a:defRPr>
            </a:pPr>
            <a:r>
              <a:rPr sz="3750" b="0">
                <a:solidFill>
                  <a:srgbClr val="087F83"/>
                </a:solidFill>
                <a:latin typeface="Times New Roman"/>
                <a:ea typeface="Times New Roman"/>
                <a:cs typeface="Times New Roman"/>
              </a:rPr>
              <a:t>Δ</a:t>
            </a:r>
          </a:p>
        </p:txBody>
      </p:sp>
      <p:sp>
        <p:nvSpPr>
          <p:cNvPr id="11" name="">
            <a:extLst xmlns:a="http://schemas.openxmlformats.org/drawingml/2006/main">
              <a:ext uri="{FF2B5EF4-FFF2-40B4-BE49-F238E27FC236}">
                <a16:creationId xmlns:a16="http://schemas.microsoft.com/office/drawing/2014/main" id="{3AA80929-D89B-4398-8C26-E75C5C13EBB5}"/>
              </a:ext>
            </a:extLst>
          </p:cNvPr>
          <p:cNvSpPr>
            <a:spLocks xmlns:a="http://schemas.openxmlformats.org/drawingml/2006/main" noGrp="1"/>
          </p:cNvSpPr>
          <p:nvPr/>
        </p:nvSpPr>
        <p:spPr>
          <a:xfrm xmlns:a="http://schemas.openxmlformats.org/drawingml/2006/main">
            <a:off x="5537406" y="2667000"/>
            <a:ext cx="226219" cy="4350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63" b="0">
                <a:solidFill>
                  <a:srgbClr val="087F83"/>
                </a:solidFill>
                <a:latin typeface="Times New Roman"/>
                <a:ea typeface="Times New Roman"/>
                <a:cs typeface="Times New Roman"/>
              </a:defRPr>
            </a:pPr>
            <a:r>
              <a:rPr sz="2363" b="0">
                <a:solidFill>
                  <a:srgbClr val="087F83"/>
                </a:solidFill>
                <a:latin typeface="Times New Roman"/>
                <a:ea typeface="Times New Roman"/>
                <a:cs typeface="Times New Roman"/>
              </a:rPr>
              <a:t>0</a:t>
            </a:r>
          </a:p>
        </p:txBody>
      </p:sp>
      <p:sp>
        <p:nvSpPr>
          <p:cNvPr id="12" name="">
            <a:extLst xmlns:a="http://schemas.openxmlformats.org/drawingml/2006/main">
              <a:ext uri="{FF2B5EF4-FFF2-40B4-BE49-F238E27FC236}">
                <a16:creationId xmlns:a16="http://schemas.microsoft.com/office/drawing/2014/main" id="{5ABB568B-CB67-4F21-8A91-76C97F36FC17}"/>
              </a:ext>
            </a:extLst>
          </p:cNvPr>
          <p:cNvSpPr>
            <a:spLocks xmlns:a="http://schemas.openxmlformats.org/drawingml/2006/main" noGrp="1"/>
          </p:cNvSpPr>
          <p:nvPr/>
        </p:nvSpPr>
        <p:spPr>
          <a:xfrm xmlns:a="http://schemas.openxmlformats.org/drawingml/2006/main">
            <a:off x="5687425" y="2713911"/>
            <a:ext cx="1349597" cy="690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750" b="0">
                <a:solidFill>
                  <a:srgbClr val="087F83"/>
                </a:solidFill>
                <a:latin typeface="Times New Roman"/>
                <a:ea typeface="Times New Roman"/>
                <a:cs typeface="Times New Roman"/>
              </a:defRPr>
            </a:pPr>
            <a:r>
              <a:rPr sz="3750" b="0">
                <a:solidFill>
                  <a:srgbClr val="087F83"/>
                </a:solidFill>
                <a:latin typeface="Times New Roman"/>
                <a:ea typeface="Times New Roman"/>
                <a:cs typeface="Times New Roman"/>
              </a:rPr>
              <a:t>(z) &gt; 0</a:t>
            </a:r>
          </a:p>
        </p:txBody>
      </p:sp>
      <p:sp>
        <p:nvSpPr>
          <p:cNvPr id="13" name="">
            <a:extLst xmlns:a="http://schemas.openxmlformats.org/drawingml/2006/main">
              <a:ext uri="{FF2B5EF4-FFF2-40B4-BE49-F238E27FC236}">
                <a16:creationId xmlns:a16="http://schemas.microsoft.com/office/drawing/2014/main" id="{D01942FE-F5FC-4D56-8F0A-8258951A4393}"/>
              </a:ext>
            </a:extLst>
          </p:cNvPr>
          <p:cNvSpPr>
            <a:spLocks xmlns:a="http://schemas.openxmlformats.org/drawingml/2006/main" noGrp="1"/>
          </p:cNvSpPr>
          <p:nvPr/>
        </p:nvSpPr>
        <p:spPr>
          <a:xfrm xmlns:a="http://schemas.openxmlformats.org/drawingml/2006/main">
            <a:off x="666750" y="34956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La oferta con IA supera el salario preexistente.</a:t>
            </a:r>
          </a:p>
        </p:txBody>
      </p:sp>
      <p:sp>
        <p:nvSpPr>
          <p:cNvPr id="14" name="">
            <a:extLst xmlns:a="http://schemas.openxmlformats.org/drawingml/2006/main">
              <a:ext uri="{FF2B5EF4-FFF2-40B4-BE49-F238E27FC236}">
                <a16:creationId xmlns:a16="http://schemas.microsoft.com/office/drawing/2014/main" id="{CDFAEDEA-0A94-4440-9450-3AC84B5121AB}"/>
              </a:ext>
            </a:extLst>
          </p:cNvPr>
          <p:cNvSpPr>
            <a:spLocks xmlns:a="http://schemas.openxmlformats.org/drawingml/2006/main" noGrp="1"/>
          </p:cNvSpPr>
          <p:nvPr/>
        </p:nvSpPr>
        <p:spPr>
          <a:xfrm xmlns:a="http://schemas.openxmlformats.org/drawingml/2006/main">
            <a:off x="666750" y="4448175"/>
            <a:ext cx="10572750" cy="9525"/>
          </a:xfrm>
          <a:prstGeom xmlns:a="http://schemas.openxmlformats.org/drawingml/2006/main" prst="rect">
            <a:avLst/>
          </a:prstGeom>
          <a:solidFill xmlns:a="http://schemas.openxmlformats.org/drawingml/2006/main">
            <a:srgbClr val="CDD6D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3A83AD-CC5B-4754-84D0-35694F094F34}"/>
              </a:ext>
            </a:extLst>
          </p:cNvPr>
          <p:cNvSpPr>
            <a:spLocks xmlns:a="http://schemas.openxmlformats.org/drawingml/2006/main" noGrp="1"/>
          </p:cNvSpPr>
          <p:nvPr/>
        </p:nvSpPr>
        <p:spPr>
          <a:xfrm xmlns:a="http://schemas.openxmlformats.org/drawingml/2006/main">
            <a:off x="685800" y="46958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A95436"/>
                </a:solidFill>
                <a:latin typeface="Arial"/>
                <a:ea typeface="Arial"/>
                <a:cs typeface="Arial"/>
              </a:defRPr>
            </a:pPr>
            <a:r>
              <a:rPr sz="2250" b="1">
                <a:solidFill>
                  <a:srgbClr val="A95436"/>
                </a:solidFill>
                <a:latin typeface="Arial"/>
                <a:ea typeface="Arial"/>
                <a:cs typeface="Arial"/>
              </a:rPr>
              <a:t>Una oportunidad de entrada a salarios iniciales</a:t>
            </a:r>
          </a:p>
          <a:p xmlns:a="http://schemas.openxmlformats.org/drawingml/2006/main">
            <a:pPr>
              <a:defRPr sz="2250" b="1">
                <a:solidFill>
                  <a:srgbClr val="A95436"/>
                </a:solidFill>
                <a:latin typeface="Arial"/>
                <a:ea typeface="Arial"/>
                <a:cs typeface="Arial"/>
              </a:defRPr>
            </a:pPr>
            <a:r>
              <a:rPr sz="2250" b="1">
                <a:solidFill>
                  <a:srgbClr val="A95436"/>
                </a:solidFill>
                <a:latin typeface="Arial"/>
                <a:ea typeface="Arial"/>
                <a:cs typeface="Arial"/>
              </a:rPr>
              <a:t>no es todavía una asignación de equilibrio.</a:t>
            </a:r>
          </a:p>
        </p:txBody>
      </p:sp>
    </p:spTree>
    <p:extLst>
      <p:ext uri="{BB962C8B-B14F-4D97-AF65-F5344CB8AC3E}">
        <p14:creationId xmlns:p14="http://schemas.microsoft.com/office/powerpoint/2010/main" val="1624323569"/>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2E083-E679-4EDF-85FE-77CC7FD7F04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Ilustración de entrada con costos heterogéneos</a:t>
            </a:r>
          </a:p>
        </p:txBody>
      </p:sp>
      <p:sp>
        <p:nvSpPr>
          <p:cNvPr id="2" name="">
            <a:extLst xmlns:a="http://schemas.openxmlformats.org/drawingml/2006/main">
              <a:ext uri="{FF2B5EF4-FFF2-40B4-BE49-F238E27FC236}">
                <a16:creationId xmlns:a16="http://schemas.microsoft.com/office/drawing/2014/main" id="{E45627DC-BC68-4998-A3ED-987DD89E498A}"/>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D8DA3D6-EF8C-4E6B-BDEB-5F731A0947F6}"/>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Cálculo propio. Salario sin IA: fórmula uniforme de extensions.md §4 y sim.py</a:t>
            </a:r>
          </a:p>
        </p:txBody>
      </p:sp>
      <p:sp>
        <p:nvSpPr>
          <p:cNvPr id="4" name="">
            <a:extLst xmlns:a="http://schemas.openxmlformats.org/drawingml/2006/main">
              <a:ext uri="{FF2B5EF4-FFF2-40B4-BE49-F238E27FC236}">
                <a16:creationId xmlns:a16="http://schemas.microsoft.com/office/drawing/2014/main" id="{9ED7E4C6-6222-4B9A-AAFB-49E7C1AC15F6}"/>
              </a:ext>
            </a:extLst>
          </p:cNvPr>
          <p:cNvSpPr>
            <a:spLocks xmlns:a="http://schemas.openxmlformats.org/drawingml/2006/main" noGrp="1"/>
          </p:cNvSpPr>
          <p:nvPr/>
        </p:nvSpPr>
        <p:spPr>
          <a:xfrm xmlns:a="http://schemas.openxmlformats.org/drawingml/2006/main">
            <a:off x="666750" y="14763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G(z) = z,  h = 0.5,  a = 0.88,  κ = 0.53</a:t>
            </a:r>
          </a:p>
        </p:txBody>
      </p:sp>
      <p:graphicFrame>
        <p:nvGraphicFramePr>
          <p:cNvPr id="12" name=""/>
          <p:cNvGraphicFramePr/>
          <p:nvPr/>
        </p:nvGraphicFramePr>
        <p:xfrm>
          <a:off xmlns:a="http://schemas.openxmlformats.org/drawingml/2006/main" x="666750" y="2419350"/>
          <a:ext xmlns:a="http://schemas.openxmlformats.org/drawingml/2006/main" cx="10839450" cy="2428875"/>
        </p:xfrm>
        <a:graphic xmlns:a="http://schemas.openxmlformats.org/drawingml/2006/main">
          <a:graphicData uri="http://schemas.openxmlformats.org/drawingml/2006/table">
            <a:tbl>
              <a:tblPr/>
              <a:tblGrid>
                <a:gridCol w="1809750"/>
                <a:gridCol w="3000375"/>
                <a:gridCol w="3028950"/>
                <a:gridCol w="3000375"/>
              </a:tblGrid>
              <a:tr h="607219">
                <a:tc>
                  <a:txBody>
                    <a:bodyPr/>
                    <a:lstStyle/>
                    <a:p>
                      <a:pPr algn="l"/>
                      <a:r>
                        <a:rPr sz="1875" b="1">
                          <a:solidFill>
                            <a:srgbClr val="FFFFFF"/>
                          </a:solidFill>
                          <a:latin typeface="Arial"/>
                          <a:ea typeface="Arial"/>
                          <a:cs typeface="Arial"/>
                        </a:rPr>
                        <a:t>Tipo z</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Salario sin IA</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Oferta a − c(z)</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Diferencia</a:t>
                      </a:r>
                    </a:p>
                  </a:txBody>
                  <a:tcPr marL="91440" marR="91440" marT="45720" marB="45720">
                    <a:solidFill>
                      <a:srgbClr val="152C40"/>
                    </a:solidFill>
                  </a:tcPr>
                </a:tc>
              </a:tr>
              <a:tr h="607219">
                <a:tc>
                  <a:txBody>
                    <a:bodyPr/>
                    <a:lstStyle/>
                    <a:p>
                      <a:pPr algn="l"/>
                      <a:r>
                        <a:rPr sz="1875" b="0">
                          <a:solidFill>
                            <a:srgbClr val="152C40"/>
                          </a:solidFill>
                          <a:latin typeface="Arial"/>
                          <a:ea typeface="Arial"/>
                          <a:cs typeface="Arial"/>
                        </a:rPr>
                        <a:t>0.00</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0.3570</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0.3500</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-0.0070</a:t>
                      </a:r>
                    </a:p>
                  </a:txBody>
                  <a:tcPr marL="91440" marR="91440" marT="45720" marB="45720">
                    <a:solidFill>
                      <a:srgbClr val="FFFFFF"/>
                    </a:solidFill>
                  </a:tcPr>
                </a:tc>
              </a:tr>
              <a:tr h="607219">
                <a:tc>
                  <a:txBody>
                    <a:bodyPr/>
                    <a:lstStyle/>
                    <a:p>
                      <a:pPr algn="l"/>
                      <a:r>
                        <a:rPr sz="1875" b="0">
                          <a:solidFill>
                            <a:srgbClr val="152C40"/>
                          </a:solidFill>
                          <a:latin typeface="Arial"/>
                          <a:ea typeface="Arial"/>
                          <a:cs typeface="Arial"/>
                        </a:rPr>
                        <a:t>0.25</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0.4744</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0.4825</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+0.0081</a:t>
                      </a:r>
                    </a:p>
                  </a:txBody>
                  <a:tcPr marL="91440" marR="91440" marT="45720" marB="45720">
                    <a:solidFill>
                      <a:srgbClr val="EDF3F2"/>
                    </a:solidFill>
                  </a:tcPr>
                </a:tc>
              </a:tr>
              <a:tr h="607219">
                <a:tc>
                  <a:txBody>
                    <a:bodyPr/>
                    <a:lstStyle/>
                    <a:p>
                      <a:pPr algn="l"/>
                      <a:r>
                        <a:rPr sz="1875" b="0">
                          <a:solidFill>
                            <a:srgbClr val="152C40"/>
                          </a:solidFill>
                          <a:latin typeface="Arial"/>
                          <a:ea typeface="Arial"/>
                          <a:cs typeface="Arial"/>
                        </a:rPr>
                        <a:t>0.60</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0.6912</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0.6680</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-0.0232</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F53513E-28E0-419D-AC5D-C239098B56E2}"/>
              </a:ext>
            </a:extLst>
          </p:cNvPr>
          <p:cNvSpPr>
            <a:spLocks xmlns:a="http://schemas.openxmlformats.org/drawingml/2006/main" noGrp="1"/>
          </p:cNvSpPr>
          <p:nvPr/>
        </p:nvSpPr>
        <p:spPr>
          <a:xfrm xmlns:a="http://schemas.openxmlformats.org/drawingml/2006/main">
            <a:off x="695325" y="51816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F83"/>
                </a:solidFill>
                <a:latin typeface="Arial"/>
                <a:ea typeface="Arial"/>
                <a:cs typeface="Arial"/>
              </a:defRPr>
            </a:pPr>
            <a:r>
              <a:rPr sz="2175" b="1">
                <a:solidFill>
                  <a:srgbClr val="087F83"/>
                </a:solidFill>
                <a:latin typeface="Arial"/>
                <a:ea typeface="Arial"/>
                <a:cs typeface="Arial"/>
              </a:rPr>
              <a:t>La oferta supera el salario inicial para el tipo intermedio.</a:t>
            </a:r>
          </a:p>
        </p:txBody>
      </p:sp>
      <p:sp>
        <p:nvSpPr>
          <p:cNvPr id="7" name="">
            <a:extLst xmlns:a="http://schemas.openxmlformats.org/drawingml/2006/main">
              <a:ext uri="{FF2B5EF4-FFF2-40B4-BE49-F238E27FC236}">
                <a16:creationId xmlns:a16="http://schemas.microsoft.com/office/drawing/2014/main" id="{4FEC5C1E-584F-45D8-A161-325B8D605BB1}"/>
              </a:ext>
            </a:extLst>
          </p:cNvPr>
          <p:cNvSpPr>
            <a:spLocks xmlns:a="http://schemas.openxmlformats.org/drawingml/2006/main" noGrp="1"/>
          </p:cNvSpPr>
          <p:nvPr/>
        </p:nvSpPr>
        <p:spPr>
          <a:xfrm xmlns:a="http://schemas.openxmlformats.org/drawingml/2006/main">
            <a:off x="695325" y="57340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36372"/>
                </a:solidFill>
                <a:latin typeface="Arial"/>
                <a:ea typeface="Arial"/>
                <a:cs typeface="Arial"/>
              </a:defRPr>
            </a:pPr>
            <a:r>
              <a:rPr sz="1500" b="0">
                <a:solidFill>
                  <a:srgbClr val="536372"/>
                </a:solidFill>
                <a:latin typeface="Arial"/>
                <a:ea typeface="Arial"/>
                <a:cs typeface="Arial"/>
              </a:rPr>
              <a:t>Parámetros ilustrativos. No es un nuevo equilibrio ni una estimación empírica.</a:t>
            </a:r>
          </a:p>
        </p:txBody>
      </p:sp>
    </p:spTree>
    <p:extLst>
      <p:ext uri="{BB962C8B-B14F-4D97-AF65-F5344CB8AC3E}">
        <p14:creationId xmlns:p14="http://schemas.microsoft.com/office/powerpoint/2010/main" val="1562259194"/>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C587E8-26BD-4E56-87CF-C29D2FB2B9E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Resultados que se busca establecer</a:t>
            </a:r>
          </a:p>
        </p:txBody>
      </p:sp>
      <p:sp>
        <p:nvSpPr>
          <p:cNvPr id="2" name="">
            <a:extLst xmlns:a="http://schemas.openxmlformats.org/drawingml/2006/main">
              <a:ext uri="{FF2B5EF4-FFF2-40B4-BE49-F238E27FC236}">
                <a16:creationId xmlns:a16="http://schemas.microsoft.com/office/drawing/2014/main" id="{0C9C1210-4715-462B-8EE4-585C31B402F4}"/>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898DDEE-9062-424B-B640-68C188CF54BC}"/>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Agenda de investigación propia. Son preguntas y conjeturas, no resultados del equilibrio</a:t>
            </a:r>
          </a:p>
        </p:txBody>
      </p:sp>
      <p:graphicFrame>
        <p:nvGraphicFramePr>
          <p:cNvPr id="9" name=""/>
          <p:cNvGraphicFramePr/>
          <p:nvPr/>
        </p:nvGraphicFramePr>
        <p:xfrm>
          <a:off xmlns:a="http://schemas.openxmlformats.org/drawingml/2006/main" x="666750" y="1733550"/>
          <a:ext xmlns:a="http://schemas.openxmlformats.org/drawingml/2006/main" cx="10839450" cy="2857500"/>
        </p:xfrm>
        <a:graphic xmlns:a="http://schemas.openxmlformats.org/drawingml/2006/main">
          <a:graphicData uri="http://schemas.openxmlformats.org/drawingml/2006/table">
            <a:tbl>
              <a:tblPr/>
              <a:tblGrid>
                <a:gridCol w="2571750"/>
                <a:gridCol w="8267700"/>
              </a:tblGrid>
              <a:tr h="714375">
                <a:tc>
                  <a:txBody>
                    <a:bodyPr/>
                    <a:lstStyle/>
                    <a:p>
                      <a:pPr algn="l"/>
                      <a:r>
                        <a:rPr sz="1875" b="1">
                          <a:solidFill>
                            <a:srgbClr val="FFFFFF"/>
                          </a:solidFill>
                          <a:latin typeface="Arial"/>
                          <a:ea typeface="Arial"/>
                          <a:cs typeface="Arial"/>
                        </a:rPr>
                        <a:t>Dimensión</a:t>
                      </a:r>
                    </a:p>
                  </a:txBody>
                  <a:tcPr marL="91440" marR="91440" marT="45720" marB="45720">
                    <a:solidFill>
                      <a:srgbClr val="152C40"/>
                    </a:solidFill>
                  </a:tcPr>
                </a:tc>
                <a:tc>
                  <a:txBody>
                    <a:bodyPr/>
                    <a:lstStyle/>
                    <a:p>
                      <a:pPr algn="ctr"/>
                      <a:r>
                        <a:rPr sz="1875" b="1">
                          <a:solidFill>
                            <a:srgbClr val="FFFFFF"/>
                          </a:solidFill>
                          <a:latin typeface="Arial"/>
                          <a:ea typeface="Arial"/>
                          <a:cs typeface="Arial"/>
                        </a:rPr>
                        <a:t>Pregunta</a:t>
                      </a:r>
                    </a:p>
                  </a:txBody>
                  <a:tcPr marL="91440" marR="91440" marT="45720" marB="45720">
                    <a:solidFill>
                      <a:srgbClr val="152C40"/>
                    </a:solidFill>
                  </a:tcPr>
                </a:tc>
              </a:tr>
              <a:tr h="714375">
                <a:tc>
                  <a:txBody>
                    <a:bodyPr/>
                    <a:lstStyle/>
                    <a:p>
                      <a:pPr algn="l"/>
                      <a:r>
                        <a:rPr sz="1875" b="0">
                          <a:solidFill>
                            <a:srgbClr val="152C40"/>
                          </a:solidFill>
                          <a:latin typeface="Arial"/>
                          <a:ea typeface="Arial"/>
                          <a:cs typeface="Arial"/>
                        </a:rPr>
                        <a:t>Asignación</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¿La adopción sigue ubicada en la base?</a:t>
                      </a:r>
                    </a:p>
                  </a:txBody>
                  <a:tcPr marL="91440" marR="91440" marT="45720" marB="45720">
                    <a:solidFill>
                      <a:srgbClr val="FFFFFF"/>
                    </a:solidFill>
                  </a:tcPr>
                </a:tc>
              </a:tr>
              <a:tr h="714375">
                <a:tc>
                  <a:txBody>
                    <a:bodyPr/>
                    <a:lstStyle/>
                    <a:p>
                      <a:pPr algn="l"/>
                      <a:r>
                        <a:rPr sz="1875" b="0">
                          <a:solidFill>
                            <a:srgbClr val="152C40"/>
                          </a:solidFill>
                          <a:latin typeface="Arial"/>
                          <a:ea typeface="Arial"/>
                          <a:cs typeface="Arial"/>
                        </a:rPr>
                        <a:t>Salarios</a:t>
                      </a:r>
                    </a:p>
                  </a:txBody>
                  <a:tcPr marL="91440" marR="91440" marT="45720" marB="45720">
                    <a:solidFill>
                      <a:srgbClr val="EDF3F2"/>
                    </a:solidFill>
                  </a:tcPr>
                </a:tc>
                <a:tc>
                  <a:txBody>
                    <a:bodyPr/>
                    <a:lstStyle/>
                    <a:p>
                      <a:pPr algn="ctr"/>
                      <a:r>
                        <a:rPr sz="1875" b="0">
                          <a:solidFill>
                            <a:srgbClr val="152C40"/>
                          </a:solidFill>
                          <a:latin typeface="Arial"/>
                          <a:ea typeface="Arial"/>
                          <a:cs typeface="Arial"/>
                        </a:rPr>
                        <a:t>¿Quién gana frente a cada referencia?</a:t>
                      </a:r>
                    </a:p>
                  </a:txBody>
                  <a:tcPr marL="91440" marR="91440" marT="45720" marB="45720">
                    <a:solidFill>
                      <a:srgbClr val="EDF3F2"/>
                    </a:solidFill>
                  </a:tcPr>
                </a:tc>
              </a:tr>
              <a:tr h="714375">
                <a:tc>
                  <a:txBody>
                    <a:bodyPr/>
                    <a:lstStyle/>
                    <a:p>
                      <a:pPr algn="l"/>
                      <a:r>
                        <a:rPr sz="1875" b="0">
                          <a:solidFill>
                            <a:srgbClr val="152C40"/>
                          </a:solidFill>
                          <a:latin typeface="Arial"/>
                          <a:ea typeface="Arial"/>
                          <a:cs typeface="Arial"/>
                        </a:rPr>
                        <a:t>Mecanismo</a:t>
                      </a:r>
                    </a:p>
                  </a:txBody>
                  <a:tcPr marL="91440" marR="91440" marT="45720" marB="45720">
                    <a:solidFill>
                      <a:srgbClr val="FFFFFF"/>
                    </a:solidFill>
                  </a:tcPr>
                </a:tc>
                <a:tc>
                  <a:txBody>
                    <a:bodyPr/>
                    <a:lstStyle/>
                    <a:p>
                      <a:pPr algn="ctr"/>
                      <a:r>
                        <a:rPr sz="1875" b="0">
                          <a:solidFill>
                            <a:srgbClr val="152C40"/>
                          </a:solidFill>
                          <a:latin typeface="Arial"/>
                          <a:ea typeface="Arial"/>
                          <a:cs typeface="Arial"/>
                        </a:rPr>
                        <a:t>¿Importa el nivel o la pendiente del costo?</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62299D1-7D27-4605-BBFF-E0687BD881B5}"/>
              </a:ext>
            </a:extLst>
          </p:cNvPr>
          <p:cNvSpPr>
            <a:spLocks xmlns:a="http://schemas.openxmlformats.org/drawingml/2006/main" noGrp="1"/>
          </p:cNvSpPr>
          <p:nvPr/>
        </p:nvSpPr>
        <p:spPr>
          <a:xfrm xmlns:a="http://schemas.openxmlformats.org/drawingml/2006/main">
            <a:off x="666750" y="49815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Conjetura: la heterogeneidad puede desplazar</a:t>
            </a:r>
          </a:p>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la adopción directa hacia tipos intermedios.</a:t>
            </a:r>
          </a:p>
        </p:txBody>
      </p:sp>
    </p:spTree>
    <p:extLst>
      <p:ext uri="{BB962C8B-B14F-4D97-AF65-F5344CB8AC3E}">
        <p14:creationId xmlns:p14="http://schemas.microsoft.com/office/powerpoint/2010/main" val="902501135"/>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7DC880-87D3-43FD-AE73-6DE23AF12BF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Plan de solución y contribución</a:t>
            </a:r>
          </a:p>
        </p:txBody>
      </p:sp>
      <p:sp>
        <p:nvSpPr>
          <p:cNvPr id="2" name="">
            <a:extLst xmlns:a="http://schemas.openxmlformats.org/drawingml/2006/main">
              <a:ext uri="{FF2B5EF4-FFF2-40B4-BE49-F238E27FC236}">
                <a16:creationId xmlns:a16="http://schemas.microsoft.com/office/drawing/2014/main" id="{92062607-1598-4154-B695-E714A7A35E71}"/>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9852528-D1B6-4949-86C8-186705B1D431}"/>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Propuesta propia. Implementación de referencia: https://github.com/sbvasquezg-ux/ai-05-ide/blob/main/sim.py</a:t>
            </a:r>
          </a:p>
        </p:txBody>
      </p:sp>
      <p:sp>
        <p:nvSpPr>
          <p:cNvPr id="4" name="">
            <a:extLst xmlns:a="http://schemas.openxmlformats.org/drawingml/2006/main">
              <a:ext uri="{FF2B5EF4-FFF2-40B4-BE49-F238E27FC236}">
                <a16:creationId xmlns:a16="http://schemas.microsoft.com/office/drawing/2014/main" id="{52D4E6CC-5094-4D0F-A998-6EFFE0DC5995}"/>
              </a:ext>
            </a:extLst>
          </p:cNvPr>
          <p:cNvSpPr>
            <a:spLocks xmlns:a="http://schemas.openxmlformats.org/drawingml/2006/main" noGrp="1"/>
          </p:cNvSpPr>
          <p:nvPr/>
        </p:nvSpPr>
        <p:spPr>
          <a:xfrm xmlns:a="http://schemas.openxmlformats.org/drawingml/2006/main">
            <a:off x="666750" y="160972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1   Recuperar el caso sin costo de verificación.</a:t>
            </a:r>
          </a:p>
        </p:txBody>
      </p:sp>
      <p:sp>
        <p:nvSpPr>
          <p:cNvPr id="5" name="">
            <a:extLst xmlns:a="http://schemas.openxmlformats.org/drawingml/2006/main">
              <a:ext uri="{FF2B5EF4-FFF2-40B4-BE49-F238E27FC236}">
                <a16:creationId xmlns:a16="http://schemas.microsoft.com/office/drawing/2014/main" id="{F84D9843-295A-4937-8BCF-664D1AAC5E16}"/>
              </a:ext>
            </a:extLst>
          </p:cNvPr>
          <p:cNvSpPr>
            <a:spLocks xmlns:a="http://schemas.openxmlformats.org/drawingml/2006/main" noGrp="1"/>
          </p:cNvSpPr>
          <p:nvPr/>
        </p:nvSpPr>
        <p:spPr>
          <a:xfrm xmlns:a="http://schemas.openxmlformats.org/drawingml/2006/main">
            <a:off x="666750" y="255270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2   Resolver asignación y salarios con la nueva fricción.</a:t>
            </a:r>
          </a:p>
        </p:txBody>
      </p:sp>
      <p:sp>
        <p:nvSpPr>
          <p:cNvPr id="6" name="">
            <a:extLst xmlns:a="http://schemas.openxmlformats.org/drawingml/2006/main">
              <a:ext uri="{FF2B5EF4-FFF2-40B4-BE49-F238E27FC236}">
                <a16:creationId xmlns:a16="http://schemas.microsoft.com/office/drawing/2014/main" id="{2F94B523-247F-46CC-8A15-484533DB74ED}"/>
              </a:ext>
            </a:extLst>
          </p:cNvPr>
          <p:cNvSpPr>
            <a:spLocks xmlns:a="http://schemas.openxmlformats.org/drawingml/2006/main" noGrp="1"/>
          </p:cNvSpPr>
          <p:nvPr/>
        </p:nvSpPr>
        <p:spPr>
          <a:xfrm xmlns:a="http://schemas.openxmlformats.org/drawingml/2006/main">
            <a:off x="666750" y="3495675"/>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52C40"/>
                </a:solidFill>
                <a:latin typeface="Arial"/>
                <a:ea typeface="Arial"/>
                <a:cs typeface="Arial"/>
              </a:defRPr>
            </a:pPr>
            <a:r>
              <a:rPr sz="2250" b="0">
                <a:solidFill>
                  <a:srgbClr val="152C40"/>
                </a:solidFill>
                <a:latin typeface="Arial"/>
                <a:ea typeface="Arial"/>
                <a:cs typeface="Arial"/>
              </a:rPr>
              <a:t>3   Comparar escenarios y comprobar el equilibrio.</a:t>
            </a:r>
          </a:p>
        </p:txBody>
      </p:sp>
      <p:sp>
        <p:nvSpPr>
          <p:cNvPr id="7" name="">
            <a:extLst xmlns:a="http://schemas.openxmlformats.org/drawingml/2006/main">
              <a:ext uri="{FF2B5EF4-FFF2-40B4-BE49-F238E27FC236}">
                <a16:creationId xmlns:a16="http://schemas.microsoft.com/office/drawing/2014/main" id="{5445A957-E94E-414E-95FD-8DC98A9B8259}"/>
              </a:ext>
            </a:extLst>
          </p:cNvPr>
          <p:cNvSpPr>
            <a:spLocks xmlns:a="http://schemas.openxmlformats.org/drawingml/2006/main" noGrp="1"/>
          </p:cNvSpPr>
          <p:nvPr/>
        </p:nvSpPr>
        <p:spPr>
          <a:xfrm xmlns:a="http://schemas.openxmlformats.org/drawingml/2006/main">
            <a:off x="666750" y="4695825"/>
            <a:ext cx="10572750" cy="9525"/>
          </a:xfrm>
          <a:prstGeom xmlns:a="http://schemas.openxmlformats.org/drawingml/2006/main" prst="rect">
            <a:avLst/>
          </a:prstGeom>
          <a:solidFill xmlns:a="http://schemas.openxmlformats.org/drawingml/2006/main">
            <a:srgbClr val="CDD6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EA830D-2F06-4C32-9A03-F1455AB6D896}"/>
              </a:ext>
            </a:extLst>
          </p:cNvPr>
          <p:cNvSpPr>
            <a:spLocks xmlns:a="http://schemas.openxmlformats.org/drawingml/2006/main" noGrp="1"/>
          </p:cNvSpPr>
          <p:nvPr/>
        </p:nvSpPr>
        <p:spPr>
          <a:xfrm xmlns:a="http://schemas.openxmlformats.org/drawingml/2006/main">
            <a:off x="695325" y="5038725"/>
            <a:ext cx="1057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Contribución propuesta: condiciones para que la validación</a:t>
            </a:r>
          </a:p>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modifique quién accede al copiloto.</a:t>
            </a:r>
          </a:p>
        </p:txBody>
      </p:sp>
    </p:spTree>
    <p:extLst>
      <p:ext uri="{BB962C8B-B14F-4D97-AF65-F5344CB8AC3E}">
        <p14:creationId xmlns:p14="http://schemas.microsoft.com/office/powerpoint/2010/main" val="1915620149"/>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407C62-C577-44CD-8B55-9022C18FE38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Apéndice A   Bordes y segunda derivada</a:t>
            </a:r>
          </a:p>
        </p:txBody>
      </p:sp>
      <p:sp>
        <p:nvSpPr>
          <p:cNvPr id="2" name="">
            <a:extLst xmlns:a="http://schemas.openxmlformats.org/drawingml/2006/main">
              <a:ext uri="{FF2B5EF4-FFF2-40B4-BE49-F238E27FC236}">
                <a16:creationId xmlns:a16="http://schemas.microsoft.com/office/drawing/2014/main" id="{A3452F9C-1443-4842-9DE0-754FC4DD3673}"/>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082E45B-7FA8-46EB-8F57-0870192B0FE9}"/>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Derivación propia. Condiciones locales, no prueba de existencia o unicidad</a:t>
            </a:r>
          </a:p>
        </p:txBody>
      </p:sp>
      <p:sp>
        <p:nvSpPr>
          <p:cNvPr id="4" name="">
            <a:extLst xmlns:a="http://schemas.openxmlformats.org/drawingml/2006/main">
              <a:ext uri="{FF2B5EF4-FFF2-40B4-BE49-F238E27FC236}">
                <a16:creationId xmlns:a16="http://schemas.microsoft.com/office/drawing/2014/main" id="{F758B23A-16BF-4017-BAA0-C617FF23FC14}"/>
              </a:ext>
            </a:extLst>
          </p:cNvPr>
          <p:cNvSpPr>
            <a:spLocks xmlns:a="http://schemas.openxmlformats.org/drawingml/2006/main" noGrp="1"/>
          </p:cNvSpPr>
          <p:nvPr/>
        </p:nvSpPr>
        <p:spPr>
          <a:xfrm xmlns:a="http://schemas.openxmlformats.org/drawingml/2006/main">
            <a:off x="4792742" y="1615864"/>
            <a:ext cx="1234154"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z = 0:    </a:t>
            </a:r>
          </a:p>
        </p:txBody>
      </p:sp>
      <p:sp>
        <p:nvSpPr>
          <p:cNvPr id="5" name="">
            <a:extLst xmlns:a="http://schemas.openxmlformats.org/drawingml/2006/main">
              <a:ext uri="{FF2B5EF4-FFF2-40B4-BE49-F238E27FC236}">
                <a16:creationId xmlns:a16="http://schemas.microsoft.com/office/drawing/2014/main" id="{BD03EFDA-A332-485F-8104-432FC66CCD8E}"/>
              </a:ext>
            </a:extLst>
          </p:cNvPr>
          <p:cNvSpPr>
            <a:spLocks xmlns:a="http://schemas.openxmlformats.org/drawingml/2006/main" noGrp="1"/>
          </p:cNvSpPr>
          <p:nvPr/>
        </p:nvSpPr>
        <p:spPr>
          <a:xfrm xmlns:a="http://schemas.openxmlformats.org/drawingml/2006/main">
            <a:off x="5950696" y="1615864"/>
            <a:ext cx="330708"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Π</a:t>
            </a:r>
          </a:p>
        </p:txBody>
      </p:sp>
      <p:sp>
        <p:nvSpPr>
          <p:cNvPr id="6" name="">
            <a:extLst xmlns:a="http://schemas.openxmlformats.org/drawingml/2006/main">
              <a:ext uri="{FF2B5EF4-FFF2-40B4-BE49-F238E27FC236}">
                <a16:creationId xmlns:a16="http://schemas.microsoft.com/office/drawing/2014/main" id="{73EC3686-7580-4A82-868E-05F7E316A3DC}"/>
              </a:ext>
            </a:extLst>
          </p:cNvPr>
          <p:cNvSpPr>
            <a:spLocks xmlns:a="http://schemas.openxmlformats.org/drawingml/2006/main" noGrp="1"/>
          </p:cNvSpPr>
          <p:nvPr/>
        </p:nvSpPr>
        <p:spPr>
          <a:xfrm xmlns:a="http://schemas.openxmlformats.org/drawingml/2006/main">
            <a:off x="6205204" y="1581150"/>
            <a:ext cx="236410" cy="32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48" b="0">
                <a:solidFill>
                  <a:srgbClr val="152C40"/>
                </a:solidFill>
                <a:latin typeface="Times New Roman"/>
                <a:ea typeface="Times New Roman"/>
                <a:cs typeface="Times New Roman"/>
              </a:defRPr>
            </a:pPr>
            <a:r>
              <a:rPr sz="1748" b="0">
                <a:solidFill>
                  <a:srgbClr val="152C40"/>
                </a:solidFill>
                <a:latin typeface="Times New Roman"/>
                <a:ea typeface="Times New Roman"/>
                <a:cs typeface="Times New Roman"/>
              </a:rPr>
              <a:t>V</a:t>
            </a:r>
          </a:p>
        </p:txBody>
      </p:sp>
      <p:sp>
        <p:nvSpPr>
          <p:cNvPr id="7" name="">
            <a:extLst xmlns:a="http://schemas.openxmlformats.org/drawingml/2006/main">
              <a:ext uri="{FF2B5EF4-FFF2-40B4-BE49-F238E27FC236}">
                <a16:creationId xmlns:a16="http://schemas.microsoft.com/office/drawing/2014/main" id="{8736265D-B41B-484E-A262-979187A7AF14}"/>
              </a:ext>
            </a:extLst>
          </p:cNvPr>
          <p:cNvSpPr>
            <a:spLocks xmlns:a="http://schemas.openxmlformats.org/drawingml/2006/main" noGrp="1"/>
          </p:cNvSpPr>
          <p:nvPr/>
        </p:nvSpPr>
        <p:spPr>
          <a:xfrm xmlns:a="http://schemas.openxmlformats.org/drawingml/2006/main">
            <a:off x="6365415" y="1615864"/>
            <a:ext cx="1110044"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′(0) ≤ 0</a:t>
            </a:r>
          </a:p>
        </p:txBody>
      </p:sp>
      <p:sp>
        <p:nvSpPr>
          <p:cNvPr id="8" name="">
            <a:extLst xmlns:a="http://schemas.openxmlformats.org/drawingml/2006/main">
              <a:ext uri="{FF2B5EF4-FFF2-40B4-BE49-F238E27FC236}">
                <a16:creationId xmlns:a16="http://schemas.microsoft.com/office/drawing/2014/main" id="{04F01D80-D3A3-4366-B097-797C52452382}"/>
              </a:ext>
            </a:extLst>
          </p:cNvPr>
          <p:cNvSpPr>
            <a:spLocks xmlns:a="http://schemas.openxmlformats.org/drawingml/2006/main" noGrp="1"/>
          </p:cNvSpPr>
          <p:nvPr/>
        </p:nvSpPr>
        <p:spPr>
          <a:xfrm xmlns:a="http://schemas.openxmlformats.org/drawingml/2006/main">
            <a:off x="4812506" y="2539789"/>
            <a:ext cx="1214342"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z = a:    </a:t>
            </a:r>
          </a:p>
        </p:txBody>
      </p:sp>
      <p:sp>
        <p:nvSpPr>
          <p:cNvPr id="9" name="">
            <a:extLst xmlns:a="http://schemas.openxmlformats.org/drawingml/2006/main">
              <a:ext uri="{FF2B5EF4-FFF2-40B4-BE49-F238E27FC236}">
                <a16:creationId xmlns:a16="http://schemas.microsoft.com/office/drawing/2014/main" id="{74707F45-7D56-4DCD-BA2C-11F8B126E597}"/>
              </a:ext>
            </a:extLst>
          </p:cNvPr>
          <p:cNvSpPr>
            <a:spLocks xmlns:a="http://schemas.openxmlformats.org/drawingml/2006/main" noGrp="1"/>
          </p:cNvSpPr>
          <p:nvPr/>
        </p:nvSpPr>
        <p:spPr>
          <a:xfrm xmlns:a="http://schemas.openxmlformats.org/drawingml/2006/main">
            <a:off x="5950648" y="2539789"/>
            <a:ext cx="330708"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Π</a:t>
            </a:r>
          </a:p>
        </p:txBody>
      </p:sp>
      <p:sp>
        <p:nvSpPr>
          <p:cNvPr id="10" name="">
            <a:extLst xmlns:a="http://schemas.openxmlformats.org/drawingml/2006/main">
              <a:ext uri="{FF2B5EF4-FFF2-40B4-BE49-F238E27FC236}">
                <a16:creationId xmlns:a16="http://schemas.microsoft.com/office/drawing/2014/main" id="{268DFA15-BFF5-4F6E-B138-403605463BF6}"/>
              </a:ext>
            </a:extLst>
          </p:cNvPr>
          <p:cNvSpPr>
            <a:spLocks xmlns:a="http://schemas.openxmlformats.org/drawingml/2006/main" noGrp="1"/>
          </p:cNvSpPr>
          <p:nvPr/>
        </p:nvSpPr>
        <p:spPr>
          <a:xfrm xmlns:a="http://schemas.openxmlformats.org/drawingml/2006/main">
            <a:off x="6205156" y="2505075"/>
            <a:ext cx="236410" cy="32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48" b="0">
                <a:solidFill>
                  <a:srgbClr val="152C40"/>
                </a:solidFill>
                <a:latin typeface="Times New Roman"/>
                <a:ea typeface="Times New Roman"/>
                <a:cs typeface="Times New Roman"/>
              </a:defRPr>
            </a:pPr>
            <a:r>
              <a:rPr sz="1748" b="0">
                <a:solidFill>
                  <a:srgbClr val="152C40"/>
                </a:solidFill>
                <a:latin typeface="Times New Roman"/>
                <a:ea typeface="Times New Roman"/>
                <a:cs typeface="Times New Roman"/>
              </a:rPr>
              <a:t>V</a:t>
            </a:r>
          </a:p>
        </p:txBody>
      </p:sp>
      <p:sp>
        <p:nvSpPr>
          <p:cNvPr id="11" name="">
            <a:extLst xmlns:a="http://schemas.openxmlformats.org/drawingml/2006/main">
              <a:ext uri="{FF2B5EF4-FFF2-40B4-BE49-F238E27FC236}">
                <a16:creationId xmlns:a16="http://schemas.microsoft.com/office/drawing/2014/main" id="{A686455B-8380-494B-90E3-E8490868C1F0}"/>
              </a:ext>
            </a:extLst>
          </p:cNvPr>
          <p:cNvSpPr>
            <a:spLocks xmlns:a="http://schemas.openxmlformats.org/drawingml/2006/main" noGrp="1"/>
          </p:cNvSpPr>
          <p:nvPr/>
        </p:nvSpPr>
        <p:spPr>
          <a:xfrm xmlns:a="http://schemas.openxmlformats.org/drawingml/2006/main">
            <a:off x="6365367" y="2539789"/>
            <a:ext cx="1090327" cy="5110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75" b="0">
                <a:solidFill>
                  <a:srgbClr val="152C40"/>
                </a:solidFill>
                <a:latin typeface="Times New Roman"/>
                <a:ea typeface="Times New Roman"/>
                <a:cs typeface="Times New Roman"/>
              </a:defRPr>
            </a:pPr>
            <a:r>
              <a:rPr sz="2775" b="0">
                <a:solidFill>
                  <a:srgbClr val="152C40"/>
                </a:solidFill>
                <a:latin typeface="Times New Roman"/>
                <a:ea typeface="Times New Roman"/>
                <a:cs typeface="Times New Roman"/>
              </a:rPr>
              <a:t>′(a) ≥ 0</a:t>
            </a:r>
          </a:p>
        </p:txBody>
      </p:sp>
      <p:sp>
        <p:nvSpPr>
          <p:cNvPr id="12" name="">
            <a:extLst xmlns:a="http://schemas.openxmlformats.org/drawingml/2006/main">
              <a:ext uri="{FF2B5EF4-FFF2-40B4-BE49-F238E27FC236}">
                <a16:creationId xmlns:a16="http://schemas.microsoft.com/office/drawing/2014/main" id="{6C22EA39-D477-47F6-B270-419E348B7674}"/>
              </a:ext>
            </a:extLst>
          </p:cNvPr>
          <p:cNvSpPr>
            <a:spLocks xmlns:a="http://schemas.openxmlformats.org/drawingml/2006/main" noGrp="1"/>
          </p:cNvSpPr>
          <p:nvPr/>
        </p:nvSpPr>
        <p:spPr>
          <a:xfrm xmlns:a="http://schemas.openxmlformats.org/drawingml/2006/main">
            <a:off x="3436191" y="3528512"/>
            <a:ext cx="316992"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Π</a:t>
            </a:r>
          </a:p>
        </p:txBody>
      </p:sp>
      <p:sp>
        <p:nvSpPr>
          <p:cNvPr id="13" name="">
            <a:extLst xmlns:a="http://schemas.openxmlformats.org/drawingml/2006/main">
              <a:ext uri="{FF2B5EF4-FFF2-40B4-BE49-F238E27FC236}">
                <a16:creationId xmlns:a16="http://schemas.microsoft.com/office/drawing/2014/main" id="{94DC2CA2-10D9-44DC-A35C-A5FEE9BC7B29}"/>
              </a:ext>
            </a:extLst>
          </p:cNvPr>
          <p:cNvSpPr>
            <a:spLocks xmlns:a="http://schemas.openxmlformats.org/drawingml/2006/main" noGrp="1"/>
          </p:cNvSpPr>
          <p:nvPr/>
        </p:nvSpPr>
        <p:spPr>
          <a:xfrm xmlns:a="http://schemas.openxmlformats.org/drawingml/2006/main">
            <a:off x="3676983" y="3495675"/>
            <a:ext cx="227838" cy="304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4" b="0">
                <a:solidFill>
                  <a:srgbClr val="152C40"/>
                </a:solidFill>
                <a:latin typeface="Times New Roman"/>
                <a:ea typeface="Times New Roman"/>
                <a:cs typeface="Times New Roman"/>
              </a:defRPr>
            </a:pPr>
            <a:r>
              <a:rPr sz="1654" b="0">
                <a:solidFill>
                  <a:srgbClr val="152C40"/>
                </a:solidFill>
                <a:latin typeface="Times New Roman"/>
                <a:ea typeface="Times New Roman"/>
                <a:cs typeface="Times New Roman"/>
              </a:rPr>
              <a:t>V</a:t>
            </a:r>
          </a:p>
        </p:txBody>
      </p:sp>
      <p:sp>
        <p:nvSpPr>
          <p:cNvPr id="14" name="">
            <a:extLst xmlns:a="http://schemas.openxmlformats.org/drawingml/2006/main">
              <a:ext uri="{FF2B5EF4-FFF2-40B4-BE49-F238E27FC236}">
                <a16:creationId xmlns:a16="http://schemas.microsoft.com/office/drawing/2014/main" id="{494B06C6-B746-4768-B59A-081171ABEEE5}"/>
              </a:ext>
            </a:extLst>
          </p:cNvPr>
          <p:cNvSpPr>
            <a:spLocks xmlns:a="http://schemas.openxmlformats.org/drawingml/2006/main" noGrp="1"/>
          </p:cNvSpPr>
          <p:nvPr/>
        </p:nvSpPr>
        <p:spPr>
          <a:xfrm xmlns:a="http://schemas.openxmlformats.org/drawingml/2006/main">
            <a:off x="3828621" y="3528512"/>
            <a:ext cx="2115883"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′′(z*) = −n(z*)[</a:t>
            </a:r>
          </a:p>
        </p:txBody>
      </p:sp>
      <p:sp>
        <p:nvSpPr>
          <p:cNvPr id="15" name="">
            <a:extLst xmlns:a="http://schemas.openxmlformats.org/drawingml/2006/main">
              <a:ext uri="{FF2B5EF4-FFF2-40B4-BE49-F238E27FC236}">
                <a16:creationId xmlns:a16="http://schemas.microsoft.com/office/drawing/2014/main" id="{8098C6E3-736B-437E-98F5-FA09BFE2D6DA}"/>
              </a:ext>
            </a:extLst>
          </p:cNvPr>
          <p:cNvSpPr>
            <a:spLocks xmlns:a="http://schemas.openxmlformats.org/drawingml/2006/main" noGrp="1"/>
          </p:cNvSpPr>
          <p:nvPr/>
        </p:nvSpPr>
        <p:spPr>
          <a:xfrm xmlns:a="http://schemas.openxmlformats.org/drawingml/2006/main">
            <a:off x="5868305" y="3528512"/>
            <a:ext cx="316992"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w</a:t>
            </a:r>
          </a:p>
        </p:txBody>
      </p:sp>
      <p:sp>
        <p:nvSpPr>
          <p:cNvPr id="16" name="">
            <a:extLst xmlns:a="http://schemas.openxmlformats.org/drawingml/2006/main">
              <a:ext uri="{FF2B5EF4-FFF2-40B4-BE49-F238E27FC236}">
                <a16:creationId xmlns:a16="http://schemas.microsoft.com/office/drawing/2014/main" id="{1A8DFB97-21CC-4C5F-BFCA-9E464308A06A}"/>
              </a:ext>
            </a:extLst>
          </p:cNvPr>
          <p:cNvSpPr>
            <a:spLocks xmlns:a="http://schemas.openxmlformats.org/drawingml/2006/main" noGrp="1"/>
          </p:cNvSpPr>
          <p:nvPr/>
        </p:nvSpPr>
        <p:spPr>
          <a:xfrm xmlns:a="http://schemas.openxmlformats.org/drawingml/2006/main">
            <a:off x="6109097" y="3495675"/>
            <a:ext cx="227838" cy="304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4" b="0">
                <a:solidFill>
                  <a:srgbClr val="152C40"/>
                </a:solidFill>
                <a:latin typeface="Times New Roman"/>
                <a:ea typeface="Times New Roman"/>
                <a:cs typeface="Times New Roman"/>
              </a:defRPr>
            </a:pPr>
            <a:r>
              <a:rPr sz="1654" b="0">
                <a:solidFill>
                  <a:srgbClr val="152C40"/>
                </a:solidFill>
                <a:latin typeface="Times New Roman"/>
                <a:ea typeface="Times New Roman"/>
                <a:cs typeface="Times New Roman"/>
              </a:rPr>
              <a:t>V</a:t>
            </a:r>
          </a:p>
        </p:txBody>
      </p:sp>
      <p:sp>
        <p:nvSpPr>
          <p:cNvPr id="17" name="">
            <a:extLst xmlns:a="http://schemas.openxmlformats.org/drawingml/2006/main">
              <a:ext uri="{FF2B5EF4-FFF2-40B4-BE49-F238E27FC236}">
                <a16:creationId xmlns:a16="http://schemas.microsoft.com/office/drawing/2014/main" id="{46A1C00D-9BCB-4CEA-819A-47F6D14CE5DD}"/>
              </a:ext>
            </a:extLst>
          </p:cNvPr>
          <p:cNvSpPr>
            <a:spLocks xmlns:a="http://schemas.openxmlformats.org/drawingml/2006/main" noGrp="1"/>
          </p:cNvSpPr>
          <p:nvPr/>
        </p:nvSpPr>
        <p:spPr>
          <a:xfrm xmlns:a="http://schemas.openxmlformats.org/drawingml/2006/main">
            <a:off x="6260735" y="3528512"/>
            <a:ext cx="2571274" cy="4833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152C40"/>
                </a:solidFill>
                <a:latin typeface="Times New Roman"/>
                <a:ea typeface="Times New Roman"/>
                <a:cs typeface="Times New Roman"/>
              </a:defRPr>
            </a:pPr>
            <a:r>
              <a:rPr sz="2625" b="0">
                <a:solidFill>
                  <a:srgbClr val="152C40"/>
                </a:solidFill>
                <a:latin typeface="Times New Roman"/>
                <a:ea typeface="Times New Roman"/>
                <a:cs typeface="Times New Roman"/>
              </a:rPr>
              <a:t>′′(z*) + c′′(z*)] ≤ 0</a:t>
            </a:r>
          </a:p>
        </p:txBody>
      </p:sp>
      <p:sp>
        <p:nvSpPr>
          <p:cNvPr id="18" name="">
            <a:extLst xmlns:a="http://schemas.openxmlformats.org/drawingml/2006/main">
              <a:ext uri="{FF2B5EF4-FFF2-40B4-BE49-F238E27FC236}">
                <a16:creationId xmlns:a16="http://schemas.microsoft.com/office/drawing/2014/main" id="{7D399A2D-9C28-4928-B7A6-F550C4DF86DD}"/>
              </a:ext>
            </a:extLst>
          </p:cNvPr>
          <p:cNvSpPr>
            <a:spLocks xmlns:a="http://schemas.openxmlformats.org/drawingml/2006/main" noGrp="1"/>
          </p:cNvSpPr>
          <p:nvPr/>
        </p:nvSpPr>
        <p:spPr>
          <a:xfrm xmlns:a="http://schemas.openxmlformats.org/drawingml/2006/main">
            <a:off x="666750" y="489585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2C40"/>
                </a:solidFill>
                <a:latin typeface="Arial"/>
                <a:ea typeface="Arial"/>
                <a:cs typeface="Arial"/>
              </a:defRPr>
            </a:pPr>
            <a:r>
              <a:rPr sz="2100" b="0">
                <a:solidFill>
                  <a:srgbClr val="152C40"/>
                </a:solidFill>
                <a:latin typeface="Arial"/>
                <a:ea typeface="Arial"/>
                <a:cs typeface="Arial"/>
              </a:rPr>
              <a:t>La FOC puede ser compatible con un intervalo de tipos activos.</a:t>
            </a:r>
          </a:p>
        </p:txBody>
      </p:sp>
    </p:spTree>
    <p:extLst>
      <p:ext uri="{BB962C8B-B14F-4D97-AF65-F5344CB8AC3E}">
        <p14:creationId xmlns:p14="http://schemas.microsoft.com/office/powerpoint/2010/main" val="1148173318"/>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3033AA-A2FF-4D44-A776-229077F83F5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Apéndice B   Cierre del equilibrio</a:t>
            </a:r>
          </a:p>
        </p:txBody>
      </p:sp>
      <p:sp>
        <p:nvSpPr>
          <p:cNvPr id="2" name="">
            <a:extLst xmlns:a="http://schemas.openxmlformats.org/drawingml/2006/main">
              <a:ext uri="{FF2B5EF4-FFF2-40B4-BE49-F238E27FC236}">
                <a16:creationId xmlns:a16="http://schemas.microsoft.com/office/drawing/2014/main" id="{E0CD5511-05CC-465D-8EB1-EE21BC8AEC33}"/>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95AC129C-6683-432A-8929-D0E45ECD5DA2}"/>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Condiciones de no beneficio positivo derivadas de las tecnologías propuestas</a:t>
            </a:r>
          </a:p>
        </p:txBody>
      </p:sp>
      <p:sp>
        <p:nvSpPr>
          <p:cNvPr id="4" name="">
            <a:extLst xmlns:a="http://schemas.openxmlformats.org/drawingml/2006/main">
              <a:ext uri="{FF2B5EF4-FFF2-40B4-BE49-F238E27FC236}">
                <a16:creationId xmlns:a16="http://schemas.microsoft.com/office/drawing/2014/main" id="{AC5EF421-8FAD-4C02-96CA-2B32F02399A2}"/>
              </a:ext>
            </a:extLst>
          </p:cNvPr>
          <p:cNvSpPr>
            <a:spLocks xmlns:a="http://schemas.openxmlformats.org/drawingml/2006/main" noGrp="1"/>
          </p:cNvSpPr>
          <p:nvPr/>
        </p:nvSpPr>
        <p:spPr>
          <a:xfrm xmlns:a="http://schemas.openxmlformats.org/drawingml/2006/main">
            <a:off x="5394008" y="1560590"/>
            <a:ext cx="34442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w</a:t>
            </a:r>
          </a:p>
        </p:txBody>
      </p:sp>
      <p:sp>
        <p:nvSpPr>
          <p:cNvPr id="5" name="">
            <a:extLst xmlns:a="http://schemas.openxmlformats.org/drawingml/2006/main">
              <a:ext uri="{FF2B5EF4-FFF2-40B4-BE49-F238E27FC236}">
                <a16:creationId xmlns:a16="http://schemas.microsoft.com/office/drawing/2014/main" id="{21A119C2-2FFF-4D5E-8001-8A92BA2FCC95}"/>
              </a:ext>
            </a:extLst>
          </p:cNvPr>
          <p:cNvSpPr>
            <a:spLocks xmlns:a="http://schemas.openxmlformats.org/drawingml/2006/main" noGrp="1"/>
          </p:cNvSpPr>
          <p:nvPr/>
        </p:nvSpPr>
        <p:spPr>
          <a:xfrm xmlns:a="http://schemas.openxmlformats.org/drawingml/2006/main">
            <a:off x="5662232" y="1524000"/>
            <a:ext cx="245173" cy="339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43" b="0">
                <a:solidFill>
                  <a:srgbClr val="152C40"/>
                </a:solidFill>
                <a:latin typeface="Times New Roman"/>
                <a:ea typeface="Times New Roman"/>
                <a:cs typeface="Times New Roman"/>
              </a:defRPr>
            </a:pPr>
            <a:r>
              <a:rPr sz="1843" b="0">
                <a:solidFill>
                  <a:srgbClr val="152C40"/>
                </a:solidFill>
                <a:latin typeface="Times New Roman"/>
                <a:ea typeface="Times New Roman"/>
                <a:cs typeface="Times New Roman"/>
              </a:rPr>
              <a:t>V</a:t>
            </a:r>
          </a:p>
        </p:txBody>
      </p:sp>
      <p:sp>
        <p:nvSpPr>
          <p:cNvPr id="6" name="">
            <a:extLst xmlns:a="http://schemas.openxmlformats.org/drawingml/2006/main">
              <a:ext uri="{FF2B5EF4-FFF2-40B4-BE49-F238E27FC236}">
                <a16:creationId xmlns:a16="http://schemas.microsoft.com/office/drawing/2014/main" id="{935152A5-095B-485E-8DAA-83E0FDCF1747}"/>
              </a:ext>
            </a:extLst>
          </p:cNvPr>
          <p:cNvSpPr>
            <a:spLocks xmlns:a="http://schemas.openxmlformats.org/drawingml/2006/main" noGrp="1"/>
          </p:cNvSpPr>
          <p:nvPr/>
        </p:nvSpPr>
        <p:spPr>
          <a:xfrm xmlns:a="http://schemas.openxmlformats.org/drawingml/2006/main">
            <a:off x="5831205" y="1560590"/>
            <a:ext cx="1042988"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(z) ≥ z</a:t>
            </a:r>
          </a:p>
        </p:txBody>
      </p:sp>
      <p:sp>
        <p:nvSpPr>
          <p:cNvPr id="7" name="">
            <a:extLst xmlns:a="http://schemas.openxmlformats.org/drawingml/2006/main">
              <a:ext uri="{FF2B5EF4-FFF2-40B4-BE49-F238E27FC236}">
                <a16:creationId xmlns:a16="http://schemas.microsoft.com/office/drawing/2014/main" id="{628025B3-4E97-469D-8946-1D73BE688CAE}"/>
              </a:ext>
            </a:extLst>
          </p:cNvPr>
          <p:cNvSpPr>
            <a:spLocks xmlns:a="http://schemas.openxmlformats.org/drawingml/2006/main" noGrp="1"/>
          </p:cNvSpPr>
          <p:nvPr/>
        </p:nvSpPr>
        <p:spPr>
          <a:xfrm xmlns:a="http://schemas.openxmlformats.org/drawingml/2006/main">
            <a:off x="4315968" y="2494040"/>
            <a:ext cx="344424"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w</a:t>
            </a:r>
          </a:p>
        </p:txBody>
      </p:sp>
      <p:sp>
        <p:nvSpPr>
          <p:cNvPr id="8" name="">
            <a:extLst xmlns:a="http://schemas.openxmlformats.org/drawingml/2006/main">
              <a:ext uri="{FF2B5EF4-FFF2-40B4-BE49-F238E27FC236}">
                <a16:creationId xmlns:a16="http://schemas.microsoft.com/office/drawing/2014/main" id="{9A941FFA-C9AF-4D54-B928-CC4FE79A28A8}"/>
              </a:ext>
            </a:extLst>
          </p:cNvPr>
          <p:cNvSpPr>
            <a:spLocks xmlns:a="http://schemas.openxmlformats.org/drawingml/2006/main" noGrp="1"/>
          </p:cNvSpPr>
          <p:nvPr/>
        </p:nvSpPr>
        <p:spPr>
          <a:xfrm xmlns:a="http://schemas.openxmlformats.org/drawingml/2006/main">
            <a:off x="4584192" y="2457450"/>
            <a:ext cx="245173" cy="339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43" b="0">
                <a:solidFill>
                  <a:srgbClr val="152C40"/>
                </a:solidFill>
                <a:latin typeface="Times New Roman"/>
                <a:ea typeface="Times New Roman"/>
                <a:cs typeface="Times New Roman"/>
              </a:defRPr>
            </a:pPr>
            <a:r>
              <a:rPr sz="1843" b="0">
                <a:solidFill>
                  <a:srgbClr val="152C40"/>
                </a:solidFill>
                <a:latin typeface="Times New Roman"/>
                <a:ea typeface="Times New Roman"/>
                <a:cs typeface="Times New Roman"/>
              </a:rPr>
              <a:t>V</a:t>
            </a:r>
          </a:p>
        </p:txBody>
      </p:sp>
      <p:sp>
        <p:nvSpPr>
          <p:cNvPr id="9" name="">
            <a:extLst xmlns:a="http://schemas.openxmlformats.org/drawingml/2006/main">
              <a:ext uri="{FF2B5EF4-FFF2-40B4-BE49-F238E27FC236}">
                <a16:creationId xmlns:a16="http://schemas.microsoft.com/office/drawing/2014/main" id="{992DA9C1-1D08-47F3-8F53-50A5E196D73E}"/>
              </a:ext>
            </a:extLst>
          </p:cNvPr>
          <p:cNvSpPr>
            <a:spLocks xmlns:a="http://schemas.openxmlformats.org/drawingml/2006/main" noGrp="1"/>
          </p:cNvSpPr>
          <p:nvPr/>
        </p:nvSpPr>
        <p:spPr>
          <a:xfrm xmlns:a="http://schemas.openxmlformats.org/drawingml/2006/main">
            <a:off x="4753166" y="2494040"/>
            <a:ext cx="3199066" cy="5386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925" b="0">
                <a:solidFill>
                  <a:srgbClr val="152C40"/>
                </a:solidFill>
                <a:latin typeface="Times New Roman"/>
                <a:ea typeface="Times New Roman"/>
                <a:cs typeface="Times New Roman"/>
              </a:defRPr>
            </a:pPr>
            <a:r>
              <a:rPr sz="2925" b="0">
                <a:solidFill>
                  <a:srgbClr val="152C40"/>
                </a:solidFill>
                <a:latin typeface="Times New Roman"/>
                <a:ea typeface="Times New Roman"/>
                <a:cs typeface="Times New Roman"/>
              </a:rPr>
              <a:t>(z) ≥ a − c(z),    z ≤ a</a:t>
            </a:r>
          </a:p>
        </p:txBody>
      </p:sp>
      <p:sp>
        <p:nvSpPr>
          <p:cNvPr id="10" name="">
            <a:extLst xmlns:a="http://schemas.openxmlformats.org/drawingml/2006/main">
              <a:ext uri="{FF2B5EF4-FFF2-40B4-BE49-F238E27FC236}">
                <a16:creationId xmlns:a16="http://schemas.microsoft.com/office/drawing/2014/main" id="{7C8EDDBD-CC9F-4679-BEF9-918CD2A661FA}"/>
              </a:ext>
            </a:extLst>
          </p:cNvPr>
          <p:cNvSpPr>
            <a:spLocks xmlns:a="http://schemas.openxmlformats.org/drawingml/2006/main" noGrp="1"/>
          </p:cNvSpPr>
          <p:nvPr/>
        </p:nvSpPr>
        <p:spPr>
          <a:xfrm xmlns:a="http://schemas.openxmlformats.org/drawingml/2006/main">
            <a:off x="3684175" y="3426552"/>
            <a:ext cx="337566"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52C40"/>
                </a:solidFill>
                <a:latin typeface="Times New Roman"/>
                <a:ea typeface="Times New Roman"/>
                <a:cs typeface="Times New Roman"/>
              </a:defRPr>
            </a:pPr>
            <a:r>
              <a:rPr sz="2850" b="0">
                <a:solidFill>
                  <a:srgbClr val="152C40"/>
                </a:solidFill>
                <a:latin typeface="Times New Roman"/>
                <a:ea typeface="Times New Roman"/>
                <a:cs typeface="Times New Roman"/>
              </a:rPr>
              <a:t>w</a:t>
            </a:r>
          </a:p>
        </p:txBody>
      </p:sp>
      <p:sp>
        <p:nvSpPr>
          <p:cNvPr id="11" name="">
            <a:extLst xmlns:a="http://schemas.openxmlformats.org/drawingml/2006/main">
              <a:ext uri="{FF2B5EF4-FFF2-40B4-BE49-F238E27FC236}">
                <a16:creationId xmlns:a16="http://schemas.microsoft.com/office/drawing/2014/main" id="{3CFF4F7D-BDFC-487E-AF95-787F1EA68239}"/>
              </a:ext>
            </a:extLst>
          </p:cNvPr>
          <p:cNvSpPr>
            <a:spLocks xmlns:a="http://schemas.openxmlformats.org/drawingml/2006/main" noGrp="1"/>
          </p:cNvSpPr>
          <p:nvPr/>
        </p:nvSpPr>
        <p:spPr>
          <a:xfrm xmlns:a="http://schemas.openxmlformats.org/drawingml/2006/main">
            <a:off x="3945541" y="3390900"/>
            <a:ext cx="240887" cy="330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96" b="0">
                <a:solidFill>
                  <a:srgbClr val="152C40"/>
                </a:solidFill>
                <a:latin typeface="Times New Roman"/>
                <a:ea typeface="Times New Roman"/>
                <a:cs typeface="Times New Roman"/>
              </a:defRPr>
            </a:pPr>
            <a:r>
              <a:rPr sz="1796" b="0">
                <a:solidFill>
                  <a:srgbClr val="152C40"/>
                </a:solidFill>
                <a:latin typeface="Times New Roman"/>
                <a:ea typeface="Times New Roman"/>
                <a:cs typeface="Times New Roman"/>
              </a:rPr>
              <a:t>V</a:t>
            </a:r>
          </a:p>
        </p:txBody>
      </p:sp>
      <p:sp>
        <p:nvSpPr>
          <p:cNvPr id="12" name="">
            <a:extLst xmlns:a="http://schemas.openxmlformats.org/drawingml/2006/main">
              <a:ext uri="{FF2B5EF4-FFF2-40B4-BE49-F238E27FC236}">
                <a16:creationId xmlns:a16="http://schemas.microsoft.com/office/drawing/2014/main" id="{651193FF-023A-422C-83EC-E2E2C9977857}"/>
              </a:ext>
            </a:extLst>
          </p:cNvPr>
          <p:cNvSpPr>
            <a:spLocks xmlns:a="http://schemas.openxmlformats.org/drawingml/2006/main" noGrp="1"/>
          </p:cNvSpPr>
          <p:nvPr/>
        </p:nvSpPr>
        <p:spPr>
          <a:xfrm xmlns:a="http://schemas.openxmlformats.org/drawingml/2006/main">
            <a:off x="4110228" y="3426552"/>
            <a:ext cx="2011775"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52C40"/>
                </a:solidFill>
                <a:latin typeface="Times New Roman"/>
                <a:ea typeface="Times New Roman"/>
                <a:cs typeface="Times New Roman"/>
              </a:defRPr>
            </a:pPr>
            <a:r>
              <a:rPr sz="2850" b="0">
                <a:solidFill>
                  <a:srgbClr val="152C40"/>
                </a:solidFill>
                <a:latin typeface="Times New Roman"/>
                <a:ea typeface="Times New Roman"/>
                <a:cs typeface="Times New Roman"/>
              </a:rPr>
              <a:t>(z) + h(1 − z)</a:t>
            </a:r>
          </a:p>
        </p:txBody>
      </p:sp>
      <p:sp>
        <p:nvSpPr>
          <p:cNvPr id="13" name="">
            <a:extLst xmlns:a="http://schemas.openxmlformats.org/drawingml/2006/main">
              <a:ext uri="{FF2B5EF4-FFF2-40B4-BE49-F238E27FC236}">
                <a16:creationId xmlns:a16="http://schemas.microsoft.com/office/drawing/2014/main" id="{D53E50DE-8BF0-4D28-A7EB-ED9688438561}"/>
              </a:ext>
            </a:extLst>
          </p:cNvPr>
          <p:cNvSpPr>
            <a:spLocks xmlns:a="http://schemas.openxmlformats.org/drawingml/2006/main" noGrp="1"/>
          </p:cNvSpPr>
          <p:nvPr/>
        </p:nvSpPr>
        <p:spPr>
          <a:xfrm xmlns:a="http://schemas.openxmlformats.org/drawingml/2006/main">
            <a:off x="6045803" y="3426552"/>
            <a:ext cx="337566"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52C40"/>
                </a:solidFill>
                <a:latin typeface="Times New Roman"/>
                <a:ea typeface="Times New Roman"/>
                <a:cs typeface="Times New Roman"/>
              </a:defRPr>
            </a:pPr>
            <a:r>
              <a:rPr sz="2850" b="0">
                <a:solidFill>
                  <a:srgbClr val="152C40"/>
                </a:solidFill>
                <a:latin typeface="Times New Roman"/>
                <a:ea typeface="Times New Roman"/>
                <a:cs typeface="Times New Roman"/>
              </a:rPr>
              <a:t>w</a:t>
            </a:r>
          </a:p>
        </p:txBody>
      </p:sp>
      <p:sp>
        <p:nvSpPr>
          <p:cNvPr id="14" name="">
            <a:extLst xmlns:a="http://schemas.openxmlformats.org/drawingml/2006/main">
              <a:ext uri="{FF2B5EF4-FFF2-40B4-BE49-F238E27FC236}">
                <a16:creationId xmlns:a16="http://schemas.microsoft.com/office/drawing/2014/main" id="{F4019F1F-126F-415B-810C-F6541A1C1EB8}"/>
              </a:ext>
            </a:extLst>
          </p:cNvPr>
          <p:cNvSpPr>
            <a:spLocks xmlns:a="http://schemas.openxmlformats.org/drawingml/2006/main" noGrp="1"/>
          </p:cNvSpPr>
          <p:nvPr/>
        </p:nvSpPr>
        <p:spPr>
          <a:xfrm xmlns:a="http://schemas.openxmlformats.org/drawingml/2006/main">
            <a:off x="6307169" y="3390900"/>
            <a:ext cx="240887" cy="330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96" b="0">
                <a:solidFill>
                  <a:srgbClr val="152C40"/>
                </a:solidFill>
                <a:latin typeface="Times New Roman"/>
                <a:ea typeface="Times New Roman"/>
                <a:cs typeface="Times New Roman"/>
              </a:defRPr>
            </a:pPr>
            <a:r>
              <a:rPr sz="1796" b="0">
                <a:solidFill>
                  <a:srgbClr val="152C40"/>
                </a:solidFill>
                <a:latin typeface="Times New Roman"/>
                <a:ea typeface="Times New Roman"/>
                <a:cs typeface="Times New Roman"/>
              </a:rPr>
              <a:t>V</a:t>
            </a:r>
          </a:p>
        </p:txBody>
      </p:sp>
      <p:sp>
        <p:nvSpPr>
          <p:cNvPr id="15" name="">
            <a:extLst xmlns:a="http://schemas.openxmlformats.org/drawingml/2006/main">
              <a:ext uri="{FF2B5EF4-FFF2-40B4-BE49-F238E27FC236}">
                <a16:creationId xmlns:a16="http://schemas.microsoft.com/office/drawing/2014/main" id="{83364A5B-E7D0-4C22-9AFC-9CE2119CF4C0}"/>
              </a:ext>
            </a:extLst>
          </p:cNvPr>
          <p:cNvSpPr>
            <a:spLocks xmlns:a="http://schemas.openxmlformats.org/drawingml/2006/main" noGrp="1"/>
          </p:cNvSpPr>
          <p:nvPr/>
        </p:nvSpPr>
        <p:spPr>
          <a:xfrm xmlns:a="http://schemas.openxmlformats.org/drawingml/2006/main">
            <a:off x="6471857" y="3426552"/>
            <a:ext cx="2112169" cy="52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52C40"/>
                </a:solidFill>
                <a:latin typeface="Times New Roman"/>
                <a:ea typeface="Times New Roman"/>
                <a:cs typeface="Times New Roman"/>
              </a:defRPr>
            </a:pPr>
            <a:r>
              <a:rPr sz="2850" b="0">
                <a:solidFill>
                  <a:srgbClr val="152C40"/>
                </a:solidFill>
                <a:latin typeface="Times New Roman"/>
                <a:ea typeface="Times New Roman"/>
                <a:cs typeface="Times New Roman"/>
              </a:rPr>
              <a:t>(s) ≥ s,    z ≤ s</a:t>
            </a:r>
          </a:p>
        </p:txBody>
      </p:sp>
      <p:sp>
        <p:nvSpPr>
          <p:cNvPr id="16" name="">
            <a:extLst xmlns:a="http://schemas.openxmlformats.org/drawingml/2006/main">
              <a:ext uri="{FF2B5EF4-FFF2-40B4-BE49-F238E27FC236}">
                <a16:creationId xmlns:a16="http://schemas.microsoft.com/office/drawing/2014/main" id="{E0BF81A3-4C2F-4871-8ECE-5C6CB03D1646}"/>
              </a:ext>
            </a:extLst>
          </p:cNvPr>
          <p:cNvSpPr>
            <a:spLocks xmlns:a="http://schemas.openxmlformats.org/drawingml/2006/main" noGrp="1"/>
          </p:cNvSpPr>
          <p:nvPr/>
        </p:nvSpPr>
        <p:spPr>
          <a:xfrm xmlns:a="http://schemas.openxmlformats.org/drawingml/2006/main">
            <a:off x="666750" y="46958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52C40"/>
                </a:solidFill>
                <a:latin typeface="Arial"/>
                <a:ea typeface="Arial"/>
                <a:cs typeface="Arial"/>
              </a:defRPr>
            </a:pPr>
            <a:r>
              <a:rPr sz="2025" b="0">
                <a:solidFill>
                  <a:srgbClr val="152C40"/>
                </a:solidFill>
                <a:latin typeface="Arial"/>
                <a:ea typeface="Arial"/>
                <a:cs typeface="Arial"/>
              </a:rPr>
              <a:t>Igualdad en actividades utilizadas y vaciado de recursos humanos.</a:t>
            </a:r>
          </a:p>
          <a:p xmlns:a="http://schemas.openxmlformats.org/drawingml/2006/main">
            <a:pPr>
              <a:defRPr sz="2025" b="0">
                <a:solidFill>
                  <a:srgbClr val="152C40"/>
                </a:solidFill>
                <a:latin typeface="Arial"/>
                <a:ea typeface="Arial"/>
                <a:cs typeface="Arial"/>
              </a:defRPr>
            </a:pPr>
            <a:r>
              <a:rPr sz="2025" b="0">
                <a:solidFill>
                  <a:srgbClr val="152C40"/>
                </a:solidFill>
                <a:latin typeface="Arial"/>
                <a:ea typeface="Arial"/>
                <a:cs typeface="Arial"/>
              </a:rPr>
              <a:t>Cómputo ocioso bajo μ &gt; h, por tanto r = 0.</a:t>
            </a:r>
          </a:p>
        </p:txBody>
      </p:sp>
    </p:spTree>
    <p:extLst>
      <p:ext uri="{BB962C8B-B14F-4D97-AF65-F5344CB8AC3E}">
        <p14:creationId xmlns:p14="http://schemas.microsoft.com/office/powerpoint/2010/main" val="681721405"/>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74410C-7C50-4CB3-B6DD-59C98C790D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52C40"/>
                </a:solidFill>
                <a:latin typeface="Arial"/>
                <a:ea typeface="Arial"/>
                <a:cs typeface="Arial"/>
              </a:defRPr>
            </a:pPr>
            <a:r>
              <a:rPr sz="3000" b="1">
                <a:solidFill>
                  <a:srgbClr val="152C40"/>
                </a:solidFill>
                <a:latin typeface="Arial"/>
                <a:ea typeface="Arial"/>
                <a:cs typeface="Arial"/>
              </a:rPr>
              <a:t>Apéndice C   Referencias y alcance</a:t>
            </a:r>
          </a:p>
        </p:txBody>
      </p:sp>
      <p:sp>
        <p:nvSpPr>
          <p:cNvPr id="2" name="">
            <a:extLst xmlns:a="http://schemas.openxmlformats.org/drawingml/2006/main">
              <a:ext uri="{FF2B5EF4-FFF2-40B4-BE49-F238E27FC236}">
                <a16:creationId xmlns:a16="http://schemas.microsoft.com/office/drawing/2014/main" id="{B8BE4B41-C1EF-49C1-BD77-CB1FD8300FCF}"/>
              </a:ext>
            </a:extLst>
          </p:cNvPr>
          <p:cNvSpPr>
            <a:spLocks xmlns:a="http://schemas.openxmlformats.org/drawingml/2006/main" noGrp="1"/>
          </p:cNvSpPr>
          <p:nvPr/>
        </p:nvSpPr>
        <p:spPr>
          <a:xfrm xmlns:a="http://schemas.openxmlformats.org/drawingml/2006/main">
            <a:off x="11201400" y="63150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36372"/>
                </a:solidFill>
                <a:latin typeface="Arial"/>
                <a:ea typeface="Arial"/>
                <a:cs typeface="Arial"/>
              </a:defRPr>
            </a:pPr>
            <a:r>
              <a:rPr sz="1200" b="0">
                <a:solidFill>
                  <a:srgbClr val="536372"/>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A44B3654-1DC4-4314-AD34-B1027BA0E714}"/>
              </a:ext>
            </a:extLst>
          </p:cNvPr>
          <p:cNvSpPr>
            <a:spLocks xmlns:a="http://schemas.openxmlformats.org/drawingml/2006/main" noGrp="1"/>
          </p:cNvSpPr>
          <p:nvPr/>
        </p:nvSpPr>
        <p:spPr>
          <a:xfrm xmlns:a="http://schemas.openxmlformats.org/drawingml/2006/main">
            <a:off x="60960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536372"/>
                </a:solidFill>
                <a:latin typeface="Arial"/>
                <a:ea typeface="Arial"/>
                <a:cs typeface="Arial"/>
              </a:defRPr>
            </a:pPr>
            <a:r>
              <a:rPr sz="1125" b="0">
                <a:solidFill>
                  <a:srgbClr val="536372"/>
                </a:solidFill>
                <a:latin typeface="Arial"/>
                <a:ea typeface="Arial"/>
                <a:cs typeface="Arial"/>
              </a:rPr>
              <a:t>Fuentes primarias y repositorio de trabajo</a:t>
            </a:r>
          </a:p>
        </p:txBody>
      </p:sp>
      <p:sp>
        <p:nvSpPr>
          <p:cNvPr id="4" name="">
            <a:extLst xmlns:a="http://schemas.openxmlformats.org/drawingml/2006/main">
              <a:ext uri="{FF2B5EF4-FFF2-40B4-BE49-F238E27FC236}">
                <a16:creationId xmlns:a16="http://schemas.microsoft.com/office/drawing/2014/main" id="{85A80495-BD23-4FB9-8EB0-8493850C9ABB}"/>
              </a:ext>
            </a:extLst>
          </p:cNvPr>
          <p:cNvSpPr>
            <a:spLocks xmlns:a="http://schemas.openxmlformats.org/drawingml/2006/main" noGrp="1"/>
          </p:cNvSpPr>
          <p:nvPr/>
        </p:nvSpPr>
        <p:spPr>
          <a:xfrm xmlns:a="http://schemas.openxmlformats.org/drawingml/2006/main">
            <a:off x="666750" y="15240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Ide, E. y Talamàs, E. (2025)</a:t>
            </a:r>
          </a:p>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Artificial Intelligence in the Knowledge Economy</a:t>
            </a:r>
          </a:p>
          <a:p xmlns:a="http://schemas.openxmlformats.org/drawingml/2006/main">
            <a:pPr>
              <a:defRPr sz="2175" b="0">
                <a:solidFill>
                  <a:srgbClr val="152C40"/>
                </a:solidFill>
                <a:latin typeface="Arial"/>
                <a:ea typeface="Arial"/>
                <a:cs typeface="Arial"/>
              </a:defRPr>
            </a:pPr>
            <a:r>
              <a:rPr sz="2175" b="0">
                <a:solidFill>
                  <a:srgbClr val="152C40"/>
                </a:solidFill>
                <a:latin typeface="Arial"/>
                <a:ea typeface="Arial"/>
                <a:cs typeface="Arial"/>
              </a:rPr>
              <a:t>Journal of Political Economy, 133(12), 3762–3800</a:t>
            </a:r>
          </a:p>
        </p:txBody>
      </p:sp>
      <p:sp>
        <p:nvSpPr>
          <p:cNvPr id="5" name="">
            <a:extLst xmlns:a="http://schemas.openxmlformats.org/drawingml/2006/main">
              <a:ext uri="{FF2B5EF4-FFF2-40B4-BE49-F238E27FC236}">
                <a16:creationId xmlns:a16="http://schemas.microsoft.com/office/drawing/2014/main" id="{AA35AF3E-6AFA-4CBE-A888-F4370A39F9CD}"/>
              </a:ext>
            </a:extLst>
          </p:cNvPr>
          <p:cNvSpPr>
            <a:spLocks xmlns:a="http://schemas.openxmlformats.org/drawingml/2006/main" noGrp="1"/>
          </p:cNvSpPr>
          <p:nvPr/>
        </p:nvSpPr>
        <p:spPr>
          <a:xfrm xmlns:a="http://schemas.openxmlformats.org/drawingml/2006/main">
            <a:off x="685800" y="30480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87F83"/>
                </a:solidFill>
                <a:latin typeface="Arial"/>
                <a:ea typeface="Arial"/>
                <a:cs typeface="Arial"/>
              </a:defRPr>
            </a:pPr>
            <a:r>
              <a:rPr sz="1875" b="0">
                <a:solidFill>
                  <a:srgbClr val="087F83"/>
                </a:solidFill>
                <a:latin typeface="Arial"/>
                <a:ea typeface="Arial"/>
                <a:cs typeface="Arial"/>
              </a:rPr>
              <a:t>doi.org/10.1086/737233</a:t>
            </a:r>
          </a:p>
          <a:p xmlns:a="http://schemas.openxmlformats.org/drawingml/2006/main">
            <a:pPr>
              <a:defRPr sz="1875" b="0">
                <a:solidFill>
                  <a:srgbClr val="087F83"/>
                </a:solidFill>
                <a:latin typeface="Arial"/>
                <a:ea typeface="Arial"/>
                <a:cs typeface="Arial"/>
              </a:defRPr>
            </a:pPr>
            <a:r>
              <a:rPr sz="1875" b="0">
                <a:solidFill>
                  <a:srgbClr val="087F83"/>
                </a:solidFill>
                <a:latin typeface="Arial"/>
                <a:ea typeface="Arial"/>
                <a:cs typeface="Arial"/>
              </a:rPr>
              <a:t>arxiv.org/abs/2312.05481v11</a:t>
            </a:r>
          </a:p>
        </p:txBody>
      </p:sp>
      <p:sp>
        <p:nvSpPr>
          <p:cNvPr id="6" name="">
            <a:extLst xmlns:a="http://schemas.openxmlformats.org/drawingml/2006/main">
              <a:ext uri="{FF2B5EF4-FFF2-40B4-BE49-F238E27FC236}">
                <a16:creationId xmlns:a16="http://schemas.microsoft.com/office/drawing/2014/main" id="{E0DD8F12-8D79-40E0-9393-9E038926C952}"/>
              </a:ext>
            </a:extLst>
          </p:cNvPr>
          <p:cNvSpPr>
            <a:spLocks xmlns:a="http://schemas.openxmlformats.org/drawingml/2006/main" noGrp="1"/>
          </p:cNvSpPr>
          <p:nvPr/>
        </p:nvSpPr>
        <p:spPr>
          <a:xfrm xmlns:a="http://schemas.openxmlformats.org/drawingml/2006/main">
            <a:off x="666750" y="42100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Repositorio: github.com/sbvasquezg-ux/ai-05-ide</a:t>
            </a:r>
          </a:p>
          <a:p xmlns:a="http://schemas.openxmlformats.org/drawingml/2006/main">
            <a:pPr>
              <a:defRPr sz="1950" b="0">
                <a:solidFill>
                  <a:srgbClr val="152C40"/>
                </a:solidFill>
                <a:latin typeface="Arial"/>
                <a:ea typeface="Arial"/>
                <a:cs typeface="Arial"/>
              </a:defRPr>
            </a:pPr>
            <a:r>
              <a:rPr sz="1950" b="0">
                <a:solidFill>
                  <a:srgbClr val="152C40"/>
                </a:solidFill>
                <a:latin typeface="Arial"/>
                <a:ea typeface="Arial"/>
                <a:cs typeface="Arial"/>
              </a:rPr>
              <a:t>extensions.md y sim.py</a:t>
            </a:r>
          </a:p>
        </p:txBody>
      </p:sp>
      <p:sp>
        <p:nvSpPr>
          <p:cNvPr id="7" name="">
            <a:extLst xmlns:a="http://schemas.openxmlformats.org/drawingml/2006/main">
              <a:ext uri="{FF2B5EF4-FFF2-40B4-BE49-F238E27FC236}">
                <a16:creationId xmlns:a16="http://schemas.microsoft.com/office/drawing/2014/main" id="{50068A97-4C23-4726-8238-BB8C890F03F7}"/>
              </a:ext>
            </a:extLst>
          </p:cNvPr>
          <p:cNvSpPr>
            <a:spLocks xmlns:a="http://schemas.openxmlformats.org/drawingml/2006/main" noGrp="1"/>
          </p:cNvSpPr>
          <p:nvPr/>
        </p:nvSpPr>
        <p:spPr>
          <a:xfrm xmlns:a="http://schemas.openxmlformats.org/drawingml/2006/main">
            <a:off x="685800" y="54102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36372"/>
                </a:solidFill>
                <a:latin typeface="Arial"/>
                <a:ea typeface="Arial"/>
                <a:cs typeface="Arial"/>
              </a:defRPr>
            </a:pPr>
            <a:r>
              <a:rPr sz="1725" b="0">
                <a:solidFill>
                  <a:srgbClr val="536372"/>
                </a:solidFill>
                <a:latin typeface="Arial"/>
                <a:ea typeface="Arial"/>
                <a:cs typeface="Arial"/>
              </a:rPr>
              <a:t>La extensión es propia. El equilibrio completo y la revisión de novedad están pendientes.</a:t>
            </a:r>
          </a:p>
        </p:txBody>
      </p:sp>
    </p:spTree>
    <p:extLst>
      <p:ext uri="{BB962C8B-B14F-4D97-AF65-F5344CB8AC3E}">
        <p14:creationId xmlns:p14="http://schemas.microsoft.com/office/powerpoint/2010/main" val="4211476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2026-10-04T18:40:33.5570000Z</dcterms:created>
  <dcterms:modified xsi:type="dcterms:W3CDTF">2026-10-04T18:40:33.5570000Z</dcterms:modified>
</coreProperties>
</file>